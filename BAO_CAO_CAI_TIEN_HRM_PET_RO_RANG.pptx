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49c590ce0f4f97" /><Relationship Type="http://schemas.openxmlformats.org/officeDocument/2006/relationships/extended-properties" Target="/docProps/app.xml" Id="R37af608aaf094e9a" /><Relationship Type="http://schemas.openxmlformats.org/officeDocument/2006/relationships/officeDocument" Target="/ppt/presentation.xml" Id="R7527e3e8c84a4b4d" /></Relationships>
</file>

<file path=ppt/presentation.xml><?xml version="1.0" encoding="utf-8"?>
<p:presentation xmlns:p="http://schemas.openxmlformats.org/presentationml/2006/main">
  <p:sldMasterIdLst>
    <p:sldMasterId xmlns:r="http://schemas.openxmlformats.org/officeDocument/2006/relationships" id="2147483648" r:id="R1a6e731ca17e48db"/>
  </p:sldMasterIdLst>
  <p:notesMasterIdLst>
    <p:notesMasterId xmlns:r="http://schemas.openxmlformats.org/officeDocument/2006/relationships" r:id="R1ca4b20019de4e46"/>
  </p:notesMasterIdLst>
  <p:sldIdLst>
    <p:sldId xmlns:r="http://schemas.openxmlformats.org/officeDocument/2006/relationships" id="256" r:id="R5097ed1b78974a98"/>
    <p:sldId xmlns:r="http://schemas.openxmlformats.org/officeDocument/2006/relationships" id="257" r:id="Redb70da71a4c41a5"/>
    <p:sldId xmlns:r="http://schemas.openxmlformats.org/officeDocument/2006/relationships" id="258" r:id="Rc5d38c8636c34530"/>
    <p:sldId xmlns:r="http://schemas.openxmlformats.org/officeDocument/2006/relationships" id="259" r:id="R9fbe61750a534d16"/>
    <p:sldId xmlns:r="http://schemas.openxmlformats.org/officeDocument/2006/relationships" id="260" r:id="R081fd86c8eda474d"/>
    <p:sldId xmlns:r="http://schemas.openxmlformats.org/officeDocument/2006/relationships" id="261" r:id="R2c2f5e21d93443b5"/>
    <p:sldId xmlns:r="http://schemas.openxmlformats.org/officeDocument/2006/relationships" id="262" r:id="R4d52503d0d5a4dd3"/>
    <p:sldId xmlns:r="http://schemas.openxmlformats.org/officeDocument/2006/relationships" id="263" r:id="R4d47a37ba3c244b5"/>
    <p:sldId xmlns:r="http://schemas.openxmlformats.org/officeDocument/2006/relationships" id="264" r:id="Rb141cca96e7444d3"/>
    <p:sldId xmlns:r="http://schemas.openxmlformats.org/officeDocument/2006/relationships" id="265" r:id="R1213c51956bf4bca"/>
    <p:sldId xmlns:r="http://schemas.openxmlformats.org/officeDocument/2006/relationships" id="266" r:id="R449a8caee2e441bb"/>
    <p:sldId xmlns:r="http://schemas.openxmlformats.org/officeDocument/2006/relationships" id="267" r:id="R6106e496f18c46b2"/>
    <p:sldId xmlns:r="http://schemas.openxmlformats.org/officeDocument/2006/relationships" id="268" r:id="Rf2aeae1f69394b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f5ee14e4ad4733" /><Relationship Type="http://schemas.openxmlformats.org/officeDocument/2006/relationships/slideMaster" Target="/ppt/slideMasters/slideMaster1.xml" Id="R1a6e731ca17e48db" /><Relationship Type="http://schemas.openxmlformats.org/officeDocument/2006/relationships/notesMaster" Target="/ppt/notesMasters/notesMaster1.xml" Id="R1ca4b20019de4e46" /><Relationship Type="http://schemas.openxmlformats.org/officeDocument/2006/relationships/presProps" Target="/ppt/presProps.xml" Id="R472931a5498444da" /><Relationship Type="http://schemas.openxmlformats.org/officeDocument/2006/relationships/tableStyles" Target="/ppt/tableStyles.xml" Id="Ra6cebcb0857549e5" /><Relationship Type="http://schemas.openxmlformats.org/officeDocument/2006/relationships/slide" Target="/ppt/slides/slide1.xml" Id="R5097ed1b78974a98" /><Relationship Type="http://schemas.openxmlformats.org/officeDocument/2006/relationships/slide" Target="/ppt/slides/slide2.xml" Id="Redb70da71a4c41a5" /><Relationship Type="http://schemas.openxmlformats.org/officeDocument/2006/relationships/slide" Target="/ppt/slides/slide3.xml" Id="Rc5d38c8636c34530" /><Relationship Type="http://schemas.openxmlformats.org/officeDocument/2006/relationships/slide" Target="/ppt/slides/slide4.xml" Id="R9fbe61750a534d16" /><Relationship Type="http://schemas.openxmlformats.org/officeDocument/2006/relationships/slide" Target="/ppt/slides/slide5.xml" Id="R081fd86c8eda474d" /><Relationship Type="http://schemas.openxmlformats.org/officeDocument/2006/relationships/slide" Target="/ppt/slides/slide6.xml" Id="R2c2f5e21d93443b5" /><Relationship Type="http://schemas.openxmlformats.org/officeDocument/2006/relationships/slide" Target="/ppt/slides/slide7.xml" Id="R4d52503d0d5a4dd3" /><Relationship Type="http://schemas.openxmlformats.org/officeDocument/2006/relationships/slide" Target="/ppt/slides/slide8.xml" Id="R4d47a37ba3c244b5" /><Relationship Type="http://schemas.openxmlformats.org/officeDocument/2006/relationships/slide" Target="/ppt/slides/slide9.xml" Id="Rb141cca96e7444d3" /><Relationship Type="http://schemas.openxmlformats.org/officeDocument/2006/relationships/slide" Target="/ppt/slides/slide10.xml" Id="R1213c51956bf4bca" /><Relationship Type="http://schemas.openxmlformats.org/officeDocument/2006/relationships/slide" Target="/ppt/slides/slide11.xml" Id="R449a8caee2e441bb" /><Relationship Type="http://schemas.openxmlformats.org/officeDocument/2006/relationships/slide" Target="/ppt/slides/slide12.xml" Id="R6106e496f18c46b2" /><Relationship Type="http://schemas.openxmlformats.org/officeDocument/2006/relationships/slide" Target="/ppt/slides/slide13.xml" Id="Rf2aeae1f69394b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f2f040df834d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2a74fe4afd44d0" /><Relationship Type="http://schemas.openxmlformats.org/officeDocument/2006/relationships/notesMaster" Target="/ppt/notesMasters/notesMaster1.xml" Id="R1e29423a53244a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00684b88154fd3" /><Relationship Type="http://schemas.openxmlformats.org/officeDocument/2006/relationships/notesMaster" Target="/ppt/notesMasters/notesMaster1.xml" Id="R1c454c39c43b45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1aea6967a7473f" /><Relationship Type="http://schemas.openxmlformats.org/officeDocument/2006/relationships/notesMaster" Target="/ppt/notesMasters/notesMaster1.xml" Id="Rf4b250968eae4a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320fb0938b43c9" /><Relationship Type="http://schemas.openxmlformats.org/officeDocument/2006/relationships/notesMaster" Target="/ppt/notesMasters/notesMaster1.xml" Id="R2810f21c223b4a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25915ef83a42be" /><Relationship Type="http://schemas.openxmlformats.org/officeDocument/2006/relationships/notesMaster" Target="/ppt/notesMasters/notesMaster1.xml" Id="R0af90f8caccd43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0fafeeb9e14823" /><Relationship Type="http://schemas.openxmlformats.org/officeDocument/2006/relationships/notesMaster" Target="/ppt/notesMasters/notesMaster1.xml" Id="Rd83574b9940a4a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bc5697d4044ed0" /><Relationship Type="http://schemas.openxmlformats.org/officeDocument/2006/relationships/notesMaster" Target="/ppt/notesMasters/notesMaster1.xml" Id="R8386808c572f4e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df1372dd824498" /><Relationship Type="http://schemas.openxmlformats.org/officeDocument/2006/relationships/notesMaster" Target="/ppt/notesMasters/notesMaster1.xml" Id="Re2f82e65dc194f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526c7b02a94e2a" /><Relationship Type="http://schemas.openxmlformats.org/officeDocument/2006/relationships/notesMaster" Target="/ppt/notesMasters/notesMaster1.xml" Id="R02e35d4674aa4d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d4a96711d246f0" /><Relationship Type="http://schemas.openxmlformats.org/officeDocument/2006/relationships/notesMaster" Target="/ppt/notesMasters/notesMaster1.xml" Id="R8da8808ac12f41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9fbf4f223f4cfa" /><Relationship Type="http://schemas.openxmlformats.org/officeDocument/2006/relationships/notesMaster" Target="/ppt/notesMasters/notesMaster1.xml" Id="R81ba2d8e3d874d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02b4bf07324d89" /><Relationship Type="http://schemas.openxmlformats.org/officeDocument/2006/relationships/notesMaster" Target="/ppt/notesMasters/notesMaster1.xml" Id="R6b542d2139f943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d23715fbc54048" /><Relationship Type="http://schemas.openxmlformats.org/officeDocument/2006/relationships/notesMaster" Target="/ppt/notesMasters/notesMaster1.xml" Id="R10c5f0fd5c014c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của báo cáo là giải thích rõ phần nào của HRM-PET được giữ nguyên, phần nào được cải tiến và vì sao các thay đổi đó giúp kết quả tốt hơn.</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đây là cải tiến cục bộ. Chúng ta không viết lại HRM-PET, không thay backbone và không thay hai cơ chế re-matching DRM/CRM của paper. Hai điểm can thiệp nằm trong giai đoạn huấn luyện: replay cho CRCT và chọn nguồn cho CTIRD.</a:t>
            </a:r>
          </a:p>
          <a:p xmlns:a="http://schemas.openxmlformats.org/drawingml/2006/main">
            <a:r>
              <a:t/>
            </a:r>
          </a:p>
          <a:p xmlns:a="http://schemas.openxmlformats.org/drawingml/2006/main">
            <a:r>
              <a:t>[Sources]</a:t>
            </a:r>
          </a:p>
          <a:p xmlns:a="http://schemas.openxmlformats.org/drawingml/2006/main">
            <a:r>
              <a:t>- C:/Users/admin/Downloads/16355_Hybrid_Re_matching_for_C(1).pdf</a:t>
            </a:r>
          </a:p>
          <a:p xmlns:a="http://schemas.openxmlformats.org/drawingml/2006/main">
            <a:r>
              <a:t>- D:/Hybrid_ReMatching_code/Hybrid_ReMatching/BAO_CAO_TOM_TAT_CAI_TIEN_HRM_PET_VI.md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paper, CTIRD căn chỉnh quan hệ giữa các mẫu khi đi qua LoRA hiện tại và các LoRA cũ. Song song, HRM-PET lưu thống kê feature theo lớp dưới dạng Gaussian; các feature tổng hợp sau đó được dùng để correction classifier. Đây là hai vị trí chúng ta tập trung cải tiến.</a:t>
            </a:r>
          </a:p>
          <a:p xmlns:a="http://schemas.openxmlformats.org/drawingml/2006/main">
            <a:r>
              <a:t/>
            </a:r>
          </a:p>
          <a:p xmlns:a="http://schemas.openxmlformats.org/drawingml/2006/main">
            <a:r>
              <a:t>[Sources]</a:t>
            </a:r>
          </a:p>
          <a:p xmlns:a="http://schemas.openxmlformats.org/drawingml/2006/main">
            <a:r>
              <a:t>- C:/Users/admin/Downloads/16355_Hybrid_Re_matching_for_C(1).pdf</a:t>
            </a:r>
          </a:p>
          <a:p xmlns:a="http://schemas.openxmlformats.org/drawingml/2006/main">
            <a:r>
              <a:t>- D:/Hybrid_ReMatching_code/Hybrid_ReMatching/engines/hide_tii_engine.py</a:t>
            </a:r>
          </a:p>
          <a:p xmlns:a="http://schemas.openxmlformats.org/drawingml/2006/main">
            <a:r>
              <a:t>- D:/Hybrid_ReMatching_code/Hybrid_ReMatching/engines/hrm_lora_wtp_and_tap_engine.py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Vị trí thứ nhất là trước CRCT: CFS chọn feature replay, full replay dùng đủ feature và boundary replay bổ sung mẫu khó. Vị trí thứ hai là trong CTIRD: task energy chọn source task và điều chỉnh trọng số KL. Backbone và inference re-matching không đổi.</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Gaussian chỉ tóm tắt hai moment chính của phân phối. Hai mẫu đều hợp lệ theo Gaussian vẫn có thể rất gần nhau và tạo gradient tương tự. Ngoài ra, vòng lặp CRCT cũ có thể kết thúc trước khi tiêu thụ hết replay, làm mất thêm thông tin.</a:t>
            </a:r>
          </a:p>
          <a:p xmlns:a="http://schemas.openxmlformats.org/drawingml/2006/main">
            <a:r>
              <a:t/>
            </a:r>
          </a:p>
          <a:p xmlns:a="http://schemas.openxmlformats.org/drawingml/2006/main">
            <a:r>
              <a:t>[Sources]</a:t>
            </a:r>
          </a:p>
          <a:p xmlns:a="http://schemas.openxmlformats.org/drawingml/2006/main">
            <a:r>
              <a:t>- C:/Users/admin/Downloads/16355_Hybrid_Re_matching_for_C(1).pdf</a:t>
            </a:r>
          </a:p>
          <a:p xmlns:a="http://schemas.openxmlformats.org/drawingml/2006/main">
            <a:r>
              <a:t>- D:/Hybrid_ReMatching_code/Hybrid_ReMatching/BAO_CAO_TOM_TAT_CAI_TIEN_HRM_PET_VI.md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nguồn huấn luyện một contrastive MLP để trải feature thật đều hơn trên hypersphere. Khi chọn replay, thuật toán tham lam lấy candidate có cosine similarity trung bình nhỏ nhất với tập đã chọn. Chúng ta chuyển đúng ý tưởng chọn feature này sang Gaussian replay của CRCT, nhưng không bê nguyên pipeline model inversion sinh ảnh.</a:t>
            </a:r>
          </a:p>
          <a:p xmlns:a="http://schemas.openxmlformats.org/drawingml/2006/main">
            <a:r>
              <a:t/>
            </a:r>
          </a:p>
          <a:p xmlns:a="http://schemas.openxmlformats.org/drawingml/2006/main">
            <a:r>
              <a:t>[Sources]</a:t>
            </a:r>
          </a:p>
          <a:p xmlns:a="http://schemas.openxmlformats.org/drawingml/2006/main">
            <a:r>
              <a:t>- C:/Users/admin/Downloads/1225_Model_Inversion_with_Laye.pdf</a:t>
            </a:r>
          </a:p>
          <a:p xmlns:a="http://schemas.openxmlformats.org/drawingml/2006/main">
            <a:r>
              <a:t>- D:/Hybrid_ReMatching_code/Hybrid_ReMatching/CFS_IMPLEMENTATION_NOTE_VI.md</a:t>
            </a:r>
          </a:p>
          <a:p xmlns:a="http://schemas.openxmlformats.org/drawingml/2006/main">
            <a:r>
              <a:t>- D:/Hybrid_ReMatching_code/Hybrid_ReMatching/utils.py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thay đổi bổ sung nhau: CFS tăng diversity, full replay tăng mức sử dụng, còn boundary replay tăng độ khó có kiểm soát. Tỷ lệ boundary được giữ ở 25% để phần lớn replay vẫn bảo toàn mục tiêu diversity của CFS.</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mô tả top-K task identities có confidence cao để học shared knowledge. Khi kiểm tra code baseline, lệnh topk dùng largest=False trên class logits, sau đó map class sang task; nhiều class còn có thể cùng thuộc một task. Vì vậy cải tiến của chúng ta không phủ nhận CTIRD, mà sửa cách hiện thực source selection về đúng cấp task và đúng hướng liên quan.</a:t>
            </a:r>
          </a:p>
          <a:p xmlns:a="http://schemas.openxmlformats.org/drawingml/2006/main">
            <a:r>
              <a:t/>
            </a:r>
          </a:p>
          <a:p xmlns:a="http://schemas.openxmlformats.org/drawingml/2006/main">
            <a:r>
              <a:t>[Sources]</a:t>
            </a:r>
          </a:p>
          <a:p xmlns:a="http://schemas.openxmlformats.org/drawingml/2006/main">
            <a:r>
              <a:t>- C:/Users/admin/Downloads/16355_Hybrid_Re_matching_for_C(1).pdf</a:t>
            </a:r>
          </a:p>
          <a:p xmlns:a="http://schemas.openxmlformats.org/drawingml/2006/main">
            <a:r>
              <a:t>- D:/Hybrid_ReMatching_code/Hybrid_ReMatching/engines/hrm_lora_wtp_and_tap_engine.py</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energy gom bằng chứng của tất cả class thuộc cùng một task, sau đó chọn năm task riêng biệt có energy cao nhất. KL loss của từng source được gán trọng số theo energy; các trọng số được chuẩn hóa nên tổng cường độ CTIRD không tăng, chỉ được phân bổ đúng nguồn hơn.</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D:/Hybrid_ReMatching_code/Hybrid_ReMatching/engines/hrm_lora_wtp_and_tap_engine.py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Semantic-aware feature projection của paper nguồn dựa trên CLIP: rotation giữa text feature của hai lớp được áp dụng lên image feature. HRM-PET dùng ViT feature không mặc nhiên đồng không gian với text, nên chúng ta đã thử adapter, projection, covariance transfer và adaptive gate. Ablation chưa cho gain Acc@1 ổn định, vì vậy semantic được giữ trong code như hướng nghiên cứu, không dùng để tạo con số tốt nhất.</a:t>
            </a:r>
          </a:p>
          <a:p xmlns:a="http://schemas.openxmlformats.org/drawingml/2006/main">
            <a:r>
              <a:t/>
            </a:r>
          </a:p>
          <a:p xmlns:a="http://schemas.openxmlformats.org/drawingml/2006/main">
            <a:r>
              <a:t>[Sources]</a:t>
            </a:r>
          </a:p>
          <a:p xmlns:a="http://schemas.openxmlformats.org/drawingml/2006/main">
            <a:r>
              <a:t>- C:/Users/admin/Downloads/1225_Model_Inversion_with_Laye.pdf</a:t>
            </a:r>
          </a:p>
          <a:p xmlns:a="http://schemas.openxmlformats.org/drawingml/2006/main">
            <a:r>
              <a:t>- D:/Hybrid_ReMatching_code/Hybrid_ReMatching/SEMANTIC_TOPK_NOTE_VI.md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Dấu sao nhắc rằng mốc HRM-PET gốc 86.90 lấy từ log Kaggle giai đoạn đầu, không hoàn toàn cùng môi trường. So sánh nội bộ đáng tin cậy nhất bắt đầu từ CFS-only 87.88: full CRCT, task-energy selection, energy weighting và tuning đưa Acc@1 lên 88.60, tức tăng 0.72 điểm trên cùng máy/checkpoint chính.</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cuối: Acc@task 88.32, Acc@1 88.60, Acc@5 98.07 và loss 0.4607. So với CFS-only cùng môi trường, Acc@1 tăng 0.72 và loss giảm từ 0.5222 xuống 0.4607, tương đương khoảng 11.8%. Mức +1.70 so với HRM-PET gốc chỉ là tham chiếu lịch sử vì khác môi trường chạy.</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 D:/Hybrid_ReMatching_code/Hybrid_ReMatching/EXPERIMENT_PROGRESS_VI.md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nên trình bày thận trọng: thay đổi có cơ sở rõ ràng và kết quả một seed tốt hơn, nhưng chưa đủ để tuyên bố ý nghĩa thống kê. Bước tiếp theo là hoàn tất baseline sạch trên cùng máy, chạy nhiều seed và thêm ít nhất một benchmark khác.</a:t>
            </a:r>
          </a:p>
          <a:p xmlns:a="http://schemas.openxmlformats.org/drawingml/2006/main">
            <a:r>
              <a:t/>
            </a:r>
          </a:p>
          <a:p xmlns:a="http://schemas.openxmlformats.org/drawingml/2006/main">
            <a:r>
              <a:t>[Sources]</a:t>
            </a:r>
          </a:p>
          <a:p xmlns:a="http://schemas.openxmlformats.org/drawingml/2006/main">
            <a:r>
              <a:t>- D:/Hybrid_ReMatching_code/Hybrid_ReMatching/BAO_CAO_TOM_TAT_CAI_TIEN_HRM_PET_VI.md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44c540ccec4d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e6839a25b144d6" /><Relationship Type="http://schemas.openxmlformats.org/officeDocument/2006/relationships/slideLayout" Target="/ppt/slideLayouts/slideLayout1.xml" Id="R530f6190cb1a45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0f6190cb1a45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e6ef2a751b46f2" /><Relationship Type="http://schemas.openxmlformats.org/officeDocument/2006/relationships/notesSlide" Target="/ppt/notesSlides/notesSlide1.xml" Id="R3ff09f5854a14e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b91e3d92ca4f14" /><Relationship Type="http://schemas.openxmlformats.org/officeDocument/2006/relationships/notesSlide" Target="/ppt/notesSlides/notesSlide2.xml" Id="R879b146116b748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d08258242f4102" /><Relationship Type="http://schemas.openxmlformats.org/officeDocument/2006/relationships/notesSlide" Target="/ppt/notesSlides/notesSlide3.xml" Id="Rc47b92daf7814d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db1f17e2794f38" /><Relationship Type="http://schemas.openxmlformats.org/officeDocument/2006/relationships/notesSlide" Target="/ppt/notesSlides/notesSlide4.xml" Id="R3202d06889ea47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4ea5a004144f6a" /><Relationship Type="http://schemas.openxmlformats.org/officeDocument/2006/relationships/notesSlide" Target="/ppt/notesSlides/notesSlide5.xml" Id="Rfefa57b1130344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4c71b273c94d1f" /><Relationship Type="http://schemas.openxmlformats.org/officeDocument/2006/relationships/notesSlide" Target="/ppt/notesSlides/notesSlide6.xml" Id="R58ef4571d5624b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e36110481543dc" /><Relationship Type="http://schemas.openxmlformats.org/officeDocument/2006/relationships/notesSlide" Target="/ppt/notesSlides/notesSlide7.xml" Id="Rf2a6f124993843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0e2f41095c459e" /><Relationship Type="http://schemas.openxmlformats.org/officeDocument/2006/relationships/notesSlide" Target="/ppt/notesSlides/notesSlide8.xml" Id="Re5360b76b8714b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1c6c1792d543c4" /><Relationship Type="http://schemas.openxmlformats.org/officeDocument/2006/relationships/notesSlide" Target="/ppt/notesSlides/notesSlide9.xml" Id="R4e6370acac8d44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07a5392476469a" /><Relationship Type="http://schemas.openxmlformats.org/officeDocument/2006/relationships/notesSlide" Target="/ppt/notesSlides/notesSlide10.xml" Id="R2ed03374cae54f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b9fe96a6184974" /><Relationship Type="http://schemas.openxmlformats.org/officeDocument/2006/relationships/notesSlide" Target="/ppt/notesSlides/notesSlide11.xml" Id="R0bb4d2b85fc84d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7fc987c0184e5b" /><Relationship Type="http://schemas.openxmlformats.org/officeDocument/2006/relationships/chart" Target="/ppt/slides/charts/chart1.xml" Id="Rc443d4e00dbd48a5" /><Relationship Type="http://schemas.openxmlformats.org/officeDocument/2006/relationships/notesSlide" Target="/ppt/notesSlides/notesSlide12.xml" Id="R66ca3242fe8647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2b2a34ef734464" /><Relationship Type="http://schemas.openxmlformats.org/officeDocument/2006/relationships/notesSlide" Target="/ppt/notesSlides/notesSlide13.xml" Id="Rd8ac555182ef41a1" /></Relationships>
</file>

<file path=ppt/slides/charts/chart1.xml><?xml version="1.0" encoding="utf-8"?>
<c:chartSpace xmlns:c="http://schemas.openxmlformats.org/drawingml/2006/chart">
  <c:lang val="en-US"/>
  <c:chart>
    <c:plotArea>
      <c:barChart>
        <c:barDir val="col"/>
        <c:grouping val="clustered"/>
        <c:varyColors val="0"/>
        <c:ser>
          <c:idx val="0"/>
          <c:order val="0"/>
          <c:tx>
            <c:v>HRM-PET gốc</c:v>
          </c:tx>
          <c:spPr>
            <a:solidFill xmlns:a="http://schemas.openxmlformats.org/drawingml/2006/main">
              <a:srgbClr val="B8BCC4"/>
            </a:solidFill>
          </c:spPr>
          <c:cat>
            <c:strLit>
              <c:ptCount val="3"/>
              <c:pt idx="0">
                <c:v>Acc@task</c:v>
              </c:pt>
              <c:pt idx="1">
                <c:v>Acc@1</c:v>
              </c:pt>
              <c:pt idx="2">
                <c:v>Acc@5</c:v>
              </c:pt>
            </c:strLit>
          </c:cat>
          <c:val>
            <c:numLit>
              <c:formatCode>General</c:formatCode>
              <c:ptCount val="3"/>
              <c:pt idx="0">
                <c:v>87.05</c:v>
              </c:pt>
              <c:pt idx="1">
                <c:v>86.9</c:v>
              </c:pt>
              <c:pt idx="2">
                <c:v>97.59</c:v>
              </c:pt>
            </c:numLit>
          </c:val>
        </c:ser>
        <c:ser>
          <c:idx val="1"/>
          <c:order val="1"/>
          <c:tx>
            <c:v>Tốt nhất hiện tại</c:v>
          </c:tx>
          <c:spPr>
            <a:solidFill xmlns:a="http://schemas.openxmlformats.org/drawingml/2006/main">
              <a:srgbClr val="3D8DFF"/>
            </a:solidFill>
          </c:spPr>
          <c:cat>
            <c:strLit>
              <c:ptCount val="3"/>
              <c:pt idx="0">
                <c:v>Acc@task</c:v>
              </c:pt>
              <c:pt idx="1">
                <c:v>Acc@1</c:v>
              </c:pt>
              <c:pt idx="2">
                <c:v>Acc@5</c:v>
              </c:pt>
            </c:strLit>
          </c:cat>
          <c:val>
            <c:numLit>
              <c:formatCode>General</c:formatCode>
              <c:ptCount val="3"/>
              <c:pt idx="0">
                <c:v>88.32</c:v>
              </c:pt>
              <c:pt idx="1">
                <c:v>88.6</c:v>
              </c:pt>
              <c:pt idx="2">
                <c:v>98.07</c:v>
              </c:pt>
            </c:numLit>
          </c:val>
        </c:ser>
        <c:dLbls>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050">
                <a:solidFill>
                  <a:srgbClr val="000000"/>
                </a:solidFill>
                <a:latin typeface="Arial"/>
                <a:ea typeface="Arial"/>
                <a:cs typeface="Arial"/>
              </a:defRPr>
            </a:pPr>
          </a:p>
        </c:txPr>
        <c:crossAx val="48672768"/>
      </c:catAx>
      <c:valAx>
        <c:axId val="48672768"/>
        <c:scaling>
          <c:orientation val="minMax"/>
          <c:max val="100"/>
          <c:min val="85"/>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BF5ADCBF-7E38-4D55-A76C-87AE5000CC6C}"/>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Cải tiến HRM-PET</a:t>
            </a:r>
          </a:p>
          <a:p xmlns:a="http://schemas.openxmlformats.org/drawingml/2006/main">
            <a:pPr algn="l">
              <a:buNone/>
              <a:defRPr sz="6000">
                <a:solidFill>
                  <a:srgbClr val="000000"/>
                </a:solidFill>
                <a:latin typeface="Helvetica Neue"/>
                <a:ea typeface="Helvetica Neue"/>
                <a:cs typeface="Helvetica Neue"/>
              </a:defRPr>
            </a:pPr>
            <a:r>
              <a:t>bằng replay có chọn lọc và task-aware CTIRD</a:t>
            </a:r>
          </a:p>
        </p:txBody>
      </p:sp>
      <p:sp>
        <p:nvSpPr>
          <p:cNvPr id="2" name="Subtitle-4-2">
            <a:extLst xmlns:a="http://schemas.openxmlformats.org/drawingml/2006/main">
              <a:ext uri="{FF2B5EF4-FFF2-40B4-BE49-F238E27FC236}">
                <a16:creationId xmlns:a16="http://schemas.microsoft.com/office/drawing/2014/main" id="{DC178446-0E49-4E36-8D70-FEAF425A6316}"/>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Split-CIFAR100 · 10 task · Acc@1 88.60%</a:t>
            </a:r>
          </a:p>
        </p:txBody>
      </p:sp>
      <p:sp>
        <p:nvSpPr>
          <p:cNvPr id="3" name="Subtitle-4-3">
            <a:extLst xmlns:a="http://schemas.openxmlformats.org/drawingml/2006/main">
              <a:ext uri="{FF2B5EF4-FFF2-40B4-BE49-F238E27FC236}">
                <a16:creationId xmlns:a16="http://schemas.microsoft.com/office/drawing/2014/main" id="{E160E516-C6F9-46A9-A5C1-C3AA23952452}"/>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BÁO CÁO CẢI TIẾN HRM-PET</a:t>
            </a:r>
          </a:p>
        </p:txBody>
      </p:sp>
    </p:spTree>
    <p:extLst>
      <p:ext uri="{BB962C8B-B14F-4D97-AF65-F5344CB8AC3E}">
        <p14:creationId xmlns:p14="http://schemas.microsoft.com/office/powerpoint/2010/main" val="6814869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7BFD3DC3-3FAA-40CE-B597-8A60021F796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7EAF1412-2D4E-4C9A-A50E-743EDA38C4F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Chúng ta cải tiến hai điểm, không thay toàn bộ HRM-PET</a:t>
            </a:r>
          </a:p>
        </p:txBody>
      </p:sp>
      <p:sp>
        <p:nvSpPr>
          <p:cNvPr id="3" name="Google-Shape-534-p58-4">
            <a:extLst xmlns:a="http://schemas.openxmlformats.org/drawingml/2006/main">
              <a:ext uri="{FF2B5EF4-FFF2-40B4-BE49-F238E27FC236}">
                <a16:creationId xmlns:a16="http://schemas.microsoft.com/office/drawing/2014/main" id="{8012F841-E733-47AF-B4D5-1A5730A6FDB1}"/>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GIỮ NGUYÊN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ViT backbone và LoRA pool</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DRM/CRM re-matching khi suy luận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Cách chia 10 task của Split-CIFAR100</a:t>
            </a:r>
          </a:p>
        </p:txBody>
      </p:sp>
      <p:sp>
        <p:nvSpPr>
          <p:cNvPr id="4" name="Content-Placeholder-3-5">
            <a:extLst xmlns:a="http://schemas.openxmlformats.org/drawingml/2006/main">
              <a:ext uri="{FF2B5EF4-FFF2-40B4-BE49-F238E27FC236}">
                <a16:creationId xmlns:a16="http://schemas.microsoft.com/office/drawing/2014/main" id="{0F9A2807-DD4C-4616-9646-4A519A8F3AD2}"/>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96643"/>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PHẦN ĐƯỢC CẢI TIẾN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Feature replay và CRCT: CFS, full replay, boundary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CTIRD: chọn và gán trọng số source task bằng energy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Semantic: đã thử, không bật trong bản tốt nhất</a:t>
            </a:r>
          </a:p>
        </p:txBody>
      </p:sp>
    </p:spTree>
    <p:extLst>
      <p:ext uri="{BB962C8B-B14F-4D97-AF65-F5344CB8AC3E}">
        <p14:creationId xmlns:p14="http://schemas.microsoft.com/office/powerpoint/2010/main" val="16642731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4-title">
            <a:extLst xmlns:a="http://schemas.openxmlformats.org/drawingml/2006/main">
              <a:ext uri="{FF2B5EF4-FFF2-40B4-BE49-F238E27FC236}">
                <a16:creationId xmlns:a16="http://schemas.microsoft.com/office/drawing/2014/main" id="{9BFBF486-6B41-4D35-B77C-939B6684DCC7}"/>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HRM-PET gốc bù dữ liệu cũ ở hai bước huấn luyện</a:t>
            </a:r>
          </a:p>
        </p:txBody>
      </p:sp>
      <p:sp>
        <p:nvSpPr>
          <p:cNvPr id="2" name="slide-4-footer">
            <a:extLst xmlns:a="http://schemas.openxmlformats.org/drawingml/2006/main">
              <a:ext uri="{FF2B5EF4-FFF2-40B4-BE49-F238E27FC236}">
                <a16:creationId xmlns:a16="http://schemas.microsoft.com/office/drawing/2014/main" id="{DF08EBC6-75F2-4366-BAC7-F1DF4BB07EB1}"/>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3</a:t>
            </a:r>
          </a:p>
        </p:txBody>
      </p:sp>
      <p:sp>
        <p:nvSpPr>
          <p:cNvPr id="3" name="cfs-real-feature">
            <a:extLst xmlns:a="http://schemas.openxmlformats.org/drawingml/2006/main">
              <a:ext uri="{FF2B5EF4-FFF2-40B4-BE49-F238E27FC236}">
                <a16:creationId xmlns:a16="http://schemas.microsoft.com/office/drawing/2014/main" id="{1B07D777-A603-4638-98E9-51947DFBEDFA}"/>
              </a:ext>
            </a:extLst>
          </p:cNvPr>
          <p:cNvSpPr>
            <a:spLocks xmlns:a="http://schemas.openxmlformats.org/drawingml/2006/main" noGrp="1"/>
          </p:cNvSpPr>
          <p:nvPr/>
        </p:nvSpPr>
        <p:spPr>
          <a:xfrm xmlns:a="http://schemas.openxmlformats.org/drawingml/2006/main">
            <a:off x="4000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Dữ liệu</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task mới</a:t>
            </a:r>
          </a:p>
        </p:txBody>
      </p:sp>
      <p:sp>
        <p:nvSpPr>
          <p:cNvPr id="4" name="arrow-4-1">
            <a:extLst xmlns:a="http://schemas.openxmlformats.org/drawingml/2006/main">
              <a:ext uri="{FF2B5EF4-FFF2-40B4-BE49-F238E27FC236}">
                <a16:creationId xmlns:a16="http://schemas.microsoft.com/office/drawing/2014/main" id="{E4379B9D-D8DF-424F-BC43-457194401C40}"/>
              </a:ext>
            </a:extLst>
          </p:cNvPr>
          <p:cNvSpPr>
            <a:spLocks xmlns:a="http://schemas.openxmlformats.org/drawingml/2006/main" noGrp="1"/>
          </p:cNvSpPr>
          <p:nvPr/>
        </p:nvSpPr>
        <p:spPr>
          <a:xfrm xmlns:a="http://schemas.openxmlformats.org/drawingml/2006/main">
            <a:off x="19145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5" name="cfs-statistics">
            <a:extLst xmlns:a="http://schemas.openxmlformats.org/drawingml/2006/main">
              <a:ext uri="{FF2B5EF4-FFF2-40B4-BE49-F238E27FC236}">
                <a16:creationId xmlns:a16="http://schemas.microsoft.com/office/drawing/2014/main" id="{4F2B0811-0391-450F-B390-32E25ECB8674}"/>
              </a:ext>
            </a:extLst>
          </p:cNvPr>
          <p:cNvSpPr>
            <a:spLocks xmlns:a="http://schemas.openxmlformats.org/drawingml/2006/main" noGrp="1"/>
          </p:cNvSpPr>
          <p:nvPr/>
        </p:nvSpPr>
        <p:spPr>
          <a:xfrm xmlns:a="http://schemas.openxmlformats.org/drawingml/2006/main">
            <a:off x="23431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ViT + LoRA</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task hiện tại</a:t>
            </a:r>
          </a:p>
        </p:txBody>
      </p:sp>
      <p:sp>
        <p:nvSpPr>
          <p:cNvPr id="6" name="arrow-4-2">
            <a:extLst xmlns:a="http://schemas.openxmlformats.org/drawingml/2006/main">
              <a:ext uri="{FF2B5EF4-FFF2-40B4-BE49-F238E27FC236}">
                <a16:creationId xmlns:a16="http://schemas.microsoft.com/office/drawing/2014/main" id="{FA70930C-7528-4137-9896-9E137812CB06}"/>
              </a:ext>
            </a:extLst>
          </p:cNvPr>
          <p:cNvSpPr>
            <a:spLocks xmlns:a="http://schemas.openxmlformats.org/drawingml/2006/main" noGrp="1"/>
          </p:cNvSpPr>
          <p:nvPr/>
        </p:nvSpPr>
        <p:spPr>
          <a:xfrm xmlns:a="http://schemas.openxmlformats.org/drawingml/2006/main">
            <a:off x="38576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7" name="cfs-candidates">
            <a:extLst xmlns:a="http://schemas.openxmlformats.org/drawingml/2006/main">
              <a:ext uri="{FF2B5EF4-FFF2-40B4-BE49-F238E27FC236}">
                <a16:creationId xmlns:a16="http://schemas.microsoft.com/office/drawing/2014/main" id="{53160EEC-4BBA-4A15-83DB-88631E80CC92}"/>
              </a:ext>
            </a:extLst>
          </p:cNvPr>
          <p:cNvSpPr>
            <a:spLocks xmlns:a="http://schemas.openxmlformats.org/drawingml/2006/main" noGrp="1"/>
          </p:cNvSpPr>
          <p:nvPr/>
        </p:nvSpPr>
        <p:spPr>
          <a:xfrm xmlns:a="http://schemas.openxmlformats.org/drawingml/2006/main">
            <a:off x="42862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CTIRD giữ</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quan hệ liên task</a:t>
            </a:r>
          </a:p>
        </p:txBody>
      </p:sp>
      <p:sp>
        <p:nvSpPr>
          <p:cNvPr id="8" name="arrow-4-3">
            <a:extLst xmlns:a="http://schemas.openxmlformats.org/drawingml/2006/main">
              <a:ext uri="{FF2B5EF4-FFF2-40B4-BE49-F238E27FC236}">
                <a16:creationId xmlns:a16="http://schemas.microsoft.com/office/drawing/2014/main" id="{50C20CEF-7DD1-405C-A005-9A359C8D3667}"/>
              </a:ext>
            </a:extLst>
          </p:cNvPr>
          <p:cNvSpPr>
            <a:spLocks xmlns:a="http://schemas.openxmlformats.org/drawingml/2006/main" noGrp="1"/>
          </p:cNvSpPr>
          <p:nvPr/>
        </p:nvSpPr>
        <p:spPr>
          <a:xfrm xmlns:a="http://schemas.openxmlformats.org/drawingml/2006/main">
            <a:off x="58007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9" name="cfs-selection">
            <a:extLst xmlns:a="http://schemas.openxmlformats.org/drawingml/2006/main">
              <a:ext uri="{FF2B5EF4-FFF2-40B4-BE49-F238E27FC236}">
                <a16:creationId xmlns:a16="http://schemas.microsoft.com/office/drawing/2014/main" id="{3DB53CDB-1FAA-4B5A-A156-F2FC00169635}"/>
              </a:ext>
            </a:extLst>
          </p:cNvPr>
          <p:cNvSpPr>
            <a:spLocks xmlns:a="http://schemas.openxmlformats.org/drawingml/2006/main" noGrp="1"/>
          </p:cNvSpPr>
          <p:nvPr/>
        </p:nvSpPr>
        <p:spPr>
          <a:xfrm xmlns:a="http://schemas.openxmlformats.org/drawingml/2006/main">
            <a:off x="62293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Lưu mean +</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covariance/lớp</a:t>
            </a:r>
          </a:p>
        </p:txBody>
      </p:sp>
      <p:sp>
        <p:nvSpPr>
          <p:cNvPr id="10" name="arrow-4-4">
            <a:extLst xmlns:a="http://schemas.openxmlformats.org/drawingml/2006/main">
              <a:ext uri="{FF2B5EF4-FFF2-40B4-BE49-F238E27FC236}">
                <a16:creationId xmlns:a16="http://schemas.microsoft.com/office/drawing/2014/main" id="{74E64046-BC63-4D1E-AB33-F573925CEEAE}"/>
              </a:ext>
            </a:extLst>
          </p:cNvPr>
          <p:cNvSpPr>
            <a:spLocks xmlns:a="http://schemas.openxmlformats.org/drawingml/2006/main" noGrp="1"/>
          </p:cNvSpPr>
          <p:nvPr/>
        </p:nvSpPr>
        <p:spPr>
          <a:xfrm xmlns:a="http://schemas.openxmlformats.org/drawingml/2006/main">
            <a:off x="77438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1" name="cfs-crct">
            <a:extLst xmlns:a="http://schemas.openxmlformats.org/drawingml/2006/main">
              <a:ext uri="{FF2B5EF4-FFF2-40B4-BE49-F238E27FC236}">
                <a16:creationId xmlns:a16="http://schemas.microsoft.com/office/drawing/2014/main" id="{E3FC9362-7CA8-4298-96DA-43FA010793B6}"/>
              </a:ext>
            </a:extLst>
          </p:cNvPr>
          <p:cNvSpPr>
            <a:spLocks xmlns:a="http://schemas.openxmlformats.org/drawingml/2006/main" noGrp="1"/>
          </p:cNvSpPr>
          <p:nvPr/>
        </p:nvSpPr>
        <p:spPr>
          <a:xfrm xmlns:a="http://schemas.openxmlformats.org/drawingml/2006/main">
            <a:off x="81724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93478"/>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Sinh Gaussian</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feature replay</a:t>
            </a:r>
          </a:p>
        </p:txBody>
      </p:sp>
      <p:sp>
        <p:nvSpPr>
          <p:cNvPr id="12" name="arrow-4-5">
            <a:extLst xmlns:a="http://schemas.openxmlformats.org/drawingml/2006/main">
              <a:ext uri="{FF2B5EF4-FFF2-40B4-BE49-F238E27FC236}">
                <a16:creationId xmlns:a16="http://schemas.microsoft.com/office/drawing/2014/main" id="{A8F1D6AE-9BAA-46FB-9779-4EAFA3A10FA1}"/>
              </a:ext>
            </a:extLst>
          </p:cNvPr>
          <p:cNvSpPr>
            <a:spLocks xmlns:a="http://schemas.openxmlformats.org/drawingml/2006/main" noGrp="1"/>
          </p:cNvSpPr>
          <p:nvPr/>
        </p:nvSpPr>
        <p:spPr>
          <a:xfrm xmlns:a="http://schemas.openxmlformats.org/drawingml/2006/main">
            <a:off x="96869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3" name="cfs-result">
            <a:extLst xmlns:a="http://schemas.openxmlformats.org/drawingml/2006/main">
              <a:ext uri="{FF2B5EF4-FFF2-40B4-BE49-F238E27FC236}">
                <a16:creationId xmlns:a16="http://schemas.microsoft.com/office/drawing/2014/main" id="{F23537CC-076E-4B44-BC36-327854192526}"/>
              </a:ext>
            </a:extLst>
          </p:cNvPr>
          <p:cNvSpPr>
            <a:spLocks xmlns:a="http://schemas.openxmlformats.org/drawingml/2006/main" noGrp="1"/>
          </p:cNvSpPr>
          <p:nvPr/>
        </p:nvSpPr>
        <p:spPr>
          <a:xfrm xmlns:a="http://schemas.openxmlformats.org/drawingml/2006/main">
            <a:off x="10115550" y="2381250"/>
            <a:ext cx="167640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CRCT sửa</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classifier</a:t>
            </a:r>
          </a:p>
        </p:txBody>
      </p:sp>
      <p:sp>
        <p:nvSpPr>
          <p:cNvPr id="14" name="cfs-main-message">
            <a:extLst xmlns:a="http://schemas.openxmlformats.org/drawingml/2006/main">
              <a:ext uri="{FF2B5EF4-FFF2-40B4-BE49-F238E27FC236}">
                <a16:creationId xmlns:a16="http://schemas.microsoft.com/office/drawing/2014/main" id="{2D3273F7-5940-4A21-8175-39D4BB78C291}"/>
              </a:ext>
            </a:extLst>
          </p:cNvPr>
          <p:cNvSpPr>
            <a:spLocks xmlns:a="http://schemas.openxmlformats.org/drawingml/2006/main" noGrp="1"/>
          </p:cNvSpPr>
          <p:nvPr/>
        </p:nvSpPr>
        <p:spPr>
          <a:xfrm xmlns:a="http://schemas.openxmlformats.org/drawingml/2006/main">
            <a:off x="1143000" y="40957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75" b="0">
                <a:solidFill>
                  <a:srgbClr val="58606B"/>
                </a:solidFill>
                <a:latin typeface="Arial"/>
                <a:ea typeface="Arial"/>
                <a:cs typeface="Arial"/>
              </a:defRPr>
            </a:pPr>
            <a:r>
              <a:rPr sz="1875" b="0">
                <a:solidFill>
                  <a:srgbClr val="58606B"/>
                </a:solidFill>
                <a:latin typeface="Arial"/>
                <a:ea typeface="Arial"/>
                <a:cs typeface="Arial"/>
              </a:rPr>
              <a:t>CTIRD giữ tri thức dùng chung giữa các LoRA. CRCT dùng feature tổng hợp để cân lại classifier mà không cần lưu ảnh cũ.</a:t>
            </a:r>
          </a:p>
        </p:txBody>
      </p:sp>
    </p:spTree>
    <p:extLst>
      <p:ext uri="{BB962C8B-B14F-4D97-AF65-F5344CB8AC3E}">
        <p14:creationId xmlns:p14="http://schemas.microsoft.com/office/powerpoint/2010/main" val="5325101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4-title">
            <a:extLst xmlns:a="http://schemas.openxmlformats.org/drawingml/2006/main">
              <a:ext uri="{FF2B5EF4-FFF2-40B4-BE49-F238E27FC236}">
                <a16:creationId xmlns:a16="http://schemas.microsoft.com/office/drawing/2014/main" id="{9BFBF486-6B41-4D35-B77C-939B6684DCC7}"/>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Hai vị trí được sửa nằm sau LoRA và trước classifier</a:t>
            </a:r>
          </a:p>
        </p:txBody>
      </p:sp>
      <p:sp>
        <p:nvSpPr>
          <p:cNvPr id="2" name="slide-4-footer">
            <a:extLst xmlns:a="http://schemas.openxmlformats.org/drawingml/2006/main">
              <a:ext uri="{FF2B5EF4-FFF2-40B4-BE49-F238E27FC236}">
                <a16:creationId xmlns:a16="http://schemas.microsoft.com/office/drawing/2014/main" id="{DF08EBC6-75F2-4366-BAC7-F1DF4BB07EB1}"/>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4</a:t>
            </a:r>
          </a:p>
        </p:txBody>
      </p:sp>
      <p:sp>
        <p:nvSpPr>
          <p:cNvPr id="3" name="cfs-real-feature">
            <a:extLst xmlns:a="http://schemas.openxmlformats.org/drawingml/2006/main">
              <a:ext uri="{FF2B5EF4-FFF2-40B4-BE49-F238E27FC236}">
                <a16:creationId xmlns:a16="http://schemas.microsoft.com/office/drawing/2014/main" id="{1B07D777-A603-4638-98E9-51947DFBEDFA}"/>
              </a:ext>
            </a:extLst>
          </p:cNvPr>
          <p:cNvSpPr>
            <a:spLocks xmlns:a="http://schemas.openxmlformats.org/drawingml/2006/main" noGrp="1"/>
          </p:cNvSpPr>
          <p:nvPr/>
        </p:nvSpPr>
        <p:spPr>
          <a:xfrm xmlns:a="http://schemas.openxmlformats.org/drawingml/2006/main">
            <a:off x="4000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LoRA của</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task hiện tại</a:t>
            </a:r>
          </a:p>
        </p:txBody>
      </p:sp>
      <p:sp>
        <p:nvSpPr>
          <p:cNvPr id="4" name="arrow-4-1">
            <a:extLst xmlns:a="http://schemas.openxmlformats.org/drawingml/2006/main">
              <a:ext uri="{FF2B5EF4-FFF2-40B4-BE49-F238E27FC236}">
                <a16:creationId xmlns:a16="http://schemas.microsoft.com/office/drawing/2014/main" id="{E4379B9D-D8DF-424F-BC43-457194401C40}"/>
              </a:ext>
            </a:extLst>
          </p:cNvPr>
          <p:cNvSpPr>
            <a:spLocks xmlns:a="http://schemas.openxmlformats.org/drawingml/2006/main" noGrp="1"/>
          </p:cNvSpPr>
          <p:nvPr/>
        </p:nvSpPr>
        <p:spPr>
          <a:xfrm xmlns:a="http://schemas.openxmlformats.org/drawingml/2006/main">
            <a:off x="19145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5" name="cfs-statistics">
            <a:extLst xmlns:a="http://schemas.openxmlformats.org/drawingml/2006/main">
              <a:ext uri="{FF2B5EF4-FFF2-40B4-BE49-F238E27FC236}">
                <a16:creationId xmlns:a16="http://schemas.microsoft.com/office/drawing/2014/main" id="{4F2B0811-0391-450F-B390-32E25ECB8674}"/>
              </a:ext>
            </a:extLst>
          </p:cNvPr>
          <p:cNvSpPr>
            <a:spLocks xmlns:a="http://schemas.openxmlformats.org/drawingml/2006/main" noGrp="1"/>
          </p:cNvSpPr>
          <p:nvPr/>
        </p:nvSpPr>
        <p:spPr>
          <a:xfrm xmlns:a="http://schemas.openxmlformats.org/drawingml/2006/main">
            <a:off x="23431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MỚI: tính</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energy theo task</a:t>
            </a:r>
          </a:p>
        </p:txBody>
      </p:sp>
      <p:sp>
        <p:nvSpPr>
          <p:cNvPr id="6" name="arrow-4-2">
            <a:extLst xmlns:a="http://schemas.openxmlformats.org/drawingml/2006/main">
              <a:ext uri="{FF2B5EF4-FFF2-40B4-BE49-F238E27FC236}">
                <a16:creationId xmlns:a16="http://schemas.microsoft.com/office/drawing/2014/main" id="{FA70930C-7528-4137-9896-9E137812CB06}"/>
              </a:ext>
            </a:extLst>
          </p:cNvPr>
          <p:cNvSpPr>
            <a:spLocks xmlns:a="http://schemas.openxmlformats.org/drawingml/2006/main" noGrp="1"/>
          </p:cNvSpPr>
          <p:nvPr/>
        </p:nvSpPr>
        <p:spPr>
          <a:xfrm xmlns:a="http://schemas.openxmlformats.org/drawingml/2006/main">
            <a:off x="38576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7" name="cfs-candidates">
            <a:extLst xmlns:a="http://schemas.openxmlformats.org/drawingml/2006/main">
              <a:ext uri="{FF2B5EF4-FFF2-40B4-BE49-F238E27FC236}">
                <a16:creationId xmlns:a16="http://schemas.microsoft.com/office/drawing/2014/main" id="{53160EEC-4BBA-4A15-83DB-88631E80CC92}"/>
              </a:ext>
            </a:extLst>
          </p:cNvPr>
          <p:cNvSpPr>
            <a:spLocks xmlns:a="http://schemas.openxmlformats.org/drawingml/2006/main" noGrp="1"/>
          </p:cNvSpPr>
          <p:nvPr/>
        </p:nvSpPr>
        <p:spPr>
          <a:xfrm xmlns:a="http://schemas.openxmlformats.org/drawingml/2006/main">
            <a:off x="42862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CTIRD chọn</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source task tốt</a:t>
            </a:r>
          </a:p>
        </p:txBody>
      </p:sp>
      <p:sp>
        <p:nvSpPr>
          <p:cNvPr id="8" name="arrow-4-3">
            <a:extLst xmlns:a="http://schemas.openxmlformats.org/drawingml/2006/main">
              <a:ext uri="{FF2B5EF4-FFF2-40B4-BE49-F238E27FC236}">
                <a16:creationId xmlns:a16="http://schemas.microsoft.com/office/drawing/2014/main" id="{50C20CEF-7DD1-405C-A005-9A359C8D3667}"/>
              </a:ext>
            </a:extLst>
          </p:cNvPr>
          <p:cNvSpPr>
            <a:spLocks xmlns:a="http://schemas.openxmlformats.org/drawingml/2006/main" noGrp="1"/>
          </p:cNvSpPr>
          <p:nvPr/>
        </p:nvSpPr>
        <p:spPr>
          <a:xfrm xmlns:a="http://schemas.openxmlformats.org/drawingml/2006/main">
            <a:off x="58007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9" name="cfs-selection">
            <a:extLst xmlns:a="http://schemas.openxmlformats.org/drawingml/2006/main">
              <a:ext uri="{FF2B5EF4-FFF2-40B4-BE49-F238E27FC236}">
                <a16:creationId xmlns:a16="http://schemas.microsoft.com/office/drawing/2014/main" id="{3DB53CDB-1FAA-4B5A-A156-F2FC00169635}"/>
              </a:ext>
            </a:extLst>
          </p:cNvPr>
          <p:cNvSpPr>
            <a:spLocks xmlns:a="http://schemas.openxmlformats.org/drawingml/2006/main" noGrp="1"/>
          </p:cNvSpPr>
          <p:nvPr/>
        </p:nvSpPr>
        <p:spPr>
          <a:xfrm xmlns:a="http://schemas.openxmlformats.org/drawingml/2006/main">
            <a:off x="62293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93478"/>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MỚI: CFS chọn</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feature replay</a:t>
            </a:r>
          </a:p>
        </p:txBody>
      </p:sp>
      <p:sp>
        <p:nvSpPr>
          <p:cNvPr id="10" name="arrow-4-4">
            <a:extLst xmlns:a="http://schemas.openxmlformats.org/drawingml/2006/main">
              <a:ext uri="{FF2B5EF4-FFF2-40B4-BE49-F238E27FC236}">
                <a16:creationId xmlns:a16="http://schemas.microsoft.com/office/drawing/2014/main" id="{74E64046-BC63-4D1E-AB33-F573925CEEAE}"/>
              </a:ext>
            </a:extLst>
          </p:cNvPr>
          <p:cNvSpPr>
            <a:spLocks xmlns:a="http://schemas.openxmlformats.org/drawingml/2006/main" noGrp="1"/>
          </p:cNvSpPr>
          <p:nvPr/>
        </p:nvSpPr>
        <p:spPr>
          <a:xfrm xmlns:a="http://schemas.openxmlformats.org/drawingml/2006/main">
            <a:off x="77438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1" name="cfs-crct">
            <a:extLst xmlns:a="http://schemas.openxmlformats.org/drawingml/2006/main">
              <a:ext uri="{FF2B5EF4-FFF2-40B4-BE49-F238E27FC236}">
                <a16:creationId xmlns:a16="http://schemas.microsoft.com/office/drawing/2014/main" id="{E3FC9362-7CA8-4298-96DA-43FA010793B6}"/>
              </a:ext>
            </a:extLst>
          </p:cNvPr>
          <p:cNvSpPr>
            <a:spLocks xmlns:a="http://schemas.openxmlformats.org/drawingml/2006/main" noGrp="1"/>
          </p:cNvSpPr>
          <p:nvPr/>
        </p:nvSpPr>
        <p:spPr>
          <a:xfrm xmlns:a="http://schemas.openxmlformats.org/drawingml/2006/main">
            <a:off x="81724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MỚI: full +</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boundary replay</a:t>
            </a:r>
          </a:p>
        </p:txBody>
      </p:sp>
      <p:sp>
        <p:nvSpPr>
          <p:cNvPr id="12" name="arrow-4-5">
            <a:extLst xmlns:a="http://schemas.openxmlformats.org/drawingml/2006/main">
              <a:ext uri="{FF2B5EF4-FFF2-40B4-BE49-F238E27FC236}">
                <a16:creationId xmlns:a16="http://schemas.microsoft.com/office/drawing/2014/main" id="{A8F1D6AE-9BAA-46FB-9779-4EAFA3A10FA1}"/>
              </a:ext>
            </a:extLst>
          </p:cNvPr>
          <p:cNvSpPr>
            <a:spLocks xmlns:a="http://schemas.openxmlformats.org/drawingml/2006/main" noGrp="1"/>
          </p:cNvSpPr>
          <p:nvPr/>
        </p:nvSpPr>
        <p:spPr>
          <a:xfrm xmlns:a="http://schemas.openxmlformats.org/drawingml/2006/main">
            <a:off x="96869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3" name="cfs-result">
            <a:extLst xmlns:a="http://schemas.openxmlformats.org/drawingml/2006/main">
              <a:ext uri="{FF2B5EF4-FFF2-40B4-BE49-F238E27FC236}">
                <a16:creationId xmlns:a16="http://schemas.microsoft.com/office/drawing/2014/main" id="{F23537CC-076E-4B44-BC36-327854192526}"/>
              </a:ext>
            </a:extLst>
          </p:cNvPr>
          <p:cNvSpPr>
            <a:spLocks xmlns:a="http://schemas.openxmlformats.org/drawingml/2006/main" noGrp="1"/>
          </p:cNvSpPr>
          <p:nvPr/>
        </p:nvSpPr>
        <p:spPr>
          <a:xfrm xmlns:a="http://schemas.openxmlformats.org/drawingml/2006/main">
            <a:off x="10115550" y="2381250"/>
            <a:ext cx="167640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Classifier</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sau correction</a:t>
            </a:r>
          </a:p>
        </p:txBody>
      </p:sp>
      <p:sp>
        <p:nvSpPr>
          <p:cNvPr id="14" name="cfs-main-message">
            <a:extLst xmlns:a="http://schemas.openxmlformats.org/drawingml/2006/main">
              <a:ext uri="{FF2B5EF4-FFF2-40B4-BE49-F238E27FC236}">
                <a16:creationId xmlns:a16="http://schemas.microsoft.com/office/drawing/2014/main" id="{2D3273F7-5940-4A21-8175-39D4BB78C291}"/>
              </a:ext>
            </a:extLst>
          </p:cNvPr>
          <p:cNvSpPr>
            <a:spLocks xmlns:a="http://schemas.openxmlformats.org/drawingml/2006/main" noGrp="1"/>
          </p:cNvSpPr>
          <p:nvPr/>
        </p:nvSpPr>
        <p:spPr>
          <a:xfrm xmlns:a="http://schemas.openxmlformats.org/drawingml/2006/main">
            <a:off x="1143000" y="40957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75" b="0">
                <a:solidFill>
                  <a:srgbClr val="58606B"/>
                </a:solidFill>
                <a:latin typeface="Arial"/>
                <a:ea typeface="Arial"/>
                <a:cs typeface="Arial"/>
              </a:defRPr>
            </a:pPr>
            <a:r>
              <a:rPr sz="1875" b="0">
                <a:solidFill>
                  <a:srgbClr val="58606B"/>
                </a:solidFill>
                <a:latin typeface="Arial"/>
                <a:ea typeface="Arial"/>
                <a:cs typeface="Arial"/>
              </a:rPr>
              <a:t>Nhánh 1 cải thiện dữ liệu giả dùng để nhớ lớp cũ. Nhánh 2 cải thiện LoRA cũ được chọn làm nguồn distillation.</a:t>
            </a:r>
          </a:p>
        </p:txBody>
      </p:sp>
    </p:spTree>
    <p:extLst>
      <p:ext uri="{BB962C8B-B14F-4D97-AF65-F5344CB8AC3E}">
        <p14:creationId xmlns:p14="http://schemas.microsoft.com/office/powerpoint/2010/main" val="5325101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B46D6A81-5629-445E-922C-F5572C965E8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4CE8074F-73FB-4F57-9ACA-76C2AEDCDA7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CRCT gốc mô phỏng lớp cũ bằng mean và covariance</a:t>
            </a:r>
          </a:p>
        </p:txBody>
      </p:sp>
      <p:sp>
        <p:nvSpPr>
          <p:cNvPr id="3" name="Google-Shape-534-p58-4">
            <a:extLst xmlns:a="http://schemas.openxmlformats.org/drawingml/2006/main">
              <a:ext uri="{FF2B5EF4-FFF2-40B4-BE49-F238E27FC236}">
                <a16:creationId xmlns:a16="http://schemas.microsoft.com/office/drawing/2014/main" id="{DBC45B0E-B337-4E4B-8C9E-72D27CC2F2E4}"/>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 · Không giữ ảnh cũ</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Sau mỗi task, model chỉ lưu thống kê feature của từng lớp để tiết kiệm bộ nhớ.</a:t>
            </a:r>
          </a:p>
        </p:txBody>
      </p:sp>
      <p:sp>
        <p:nvSpPr>
          <p:cNvPr id="4" name="Content-Placeholder-1-5">
            <a:extLst xmlns:a="http://schemas.openxmlformats.org/drawingml/2006/main">
              <a:ext uri="{FF2B5EF4-FFF2-40B4-BE49-F238E27FC236}">
                <a16:creationId xmlns:a16="http://schemas.microsoft.com/office/drawing/2014/main" id="{0729434F-3903-4D34-A7D3-84423698CD3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 · Correction classifier</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CRCT học lại head bằng feature tổng hợp; code cũ còn không sử dụng hết lượng replay đã sinh.</a:t>
            </a:r>
          </a:p>
        </p:txBody>
      </p:sp>
      <p:sp>
        <p:nvSpPr>
          <p:cNvPr id="5" name="Content-Placeholder-2-6">
            <a:extLst xmlns:a="http://schemas.openxmlformats.org/drawingml/2006/main">
              <a:ext uri="{FF2B5EF4-FFF2-40B4-BE49-F238E27FC236}">
                <a16:creationId xmlns:a16="http://schemas.microsoft.com/office/drawing/2014/main" id="{375C4D95-E455-4C2E-87D5-C488A47F93C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 · Sinh Gaussian replay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Feature được lấy mẫu từ mean và covariance: đúng vùng phân phối nhưng có thể trùng lặp.</a:t>
            </a:r>
          </a:p>
        </p:txBody>
      </p:sp>
    </p:spTree>
    <p:extLst>
      <p:ext uri="{BB962C8B-B14F-4D97-AF65-F5344CB8AC3E}">
        <p14:creationId xmlns:p14="http://schemas.microsoft.com/office/powerpoint/2010/main" val="8038995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4-title">
            <a:extLst xmlns:a="http://schemas.openxmlformats.org/drawingml/2006/main">
              <a:ext uri="{FF2B5EF4-FFF2-40B4-BE49-F238E27FC236}">
                <a16:creationId xmlns:a16="http://schemas.microsoft.com/office/drawing/2014/main" id="{9BFBF486-6B41-4D35-B77C-939B6684DCC7}"/>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CFS chọn feature replay đại diện hơn trước khi CRCT học</a:t>
            </a:r>
          </a:p>
        </p:txBody>
      </p:sp>
      <p:sp>
        <p:nvSpPr>
          <p:cNvPr id="2" name="slide-4-footer">
            <a:extLst xmlns:a="http://schemas.openxmlformats.org/drawingml/2006/main">
              <a:ext uri="{FF2B5EF4-FFF2-40B4-BE49-F238E27FC236}">
                <a16:creationId xmlns:a16="http://schemas.microsoft.com/office/drawing/2014/main" id="{DF08EBC6-75F2-4366-BAC7-F1DF4BB07EB1}"/>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6</a:t>
            </a:r>
          </a:p>
        </p:txBody>
      </p:sp>
      <p:sp>
        <p:nvSpPr>
          <p:cNvPr id="3" name="cfs-real-feature">
            <a:extLst xmlns:a="http://schemas.openxmlformats.org/drawingml/2006/main">
              <a:ext uri="{FF2B5EF4-FFF2-40B4-BE49-F238E27FC236}">
                <a16:creationId xmlns:a16="http://schemas.microsoft.com/office/drawing/2014/main" id="{1B07D777-A603-4638-98E9-51947DFBEDFA}"/>
              </a:ext>
            </a:extLst>
          </p:cNvPr>
          <p:cNvSpPr>
            <a:spLocks xmlns:a="http://schemas.openxmlformats.org/drawingml/2006/main" noGrp="1"/>
          </p:cNvSpPr>
          <p:nvPr/>
        </p:nvSpPr>
        <p:spPr>
          <a:xfrm xmlns:a="http://schemas.openxmlformats.org/drawingml/2006/main">
            <a:off x="4000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Feature thật</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của một lớp</a:t>
            </a:r>
          </a:p>
        </p:txBody>
      </p:sp>
      <p:sp>
        <p:nvSpPr>
          <p:cNvPr id="4" name="arrow-4-1">
            <a:extLst xmlns:a="http://schemas.openxmlformats.org/drawingml/2006/main">
              <a:ext uri="{FF2B5EF4-FFF2-40B4-BE49-F238E27FC236}">
                <a16:creationId xmlns:a16="http://schemas.microsoft.com/office/drawing/2014/main" id="{E4379B9D-D8DF-424F-BC43-457194401C40}"/>
              </a:ext>
            </a:extLst>
          </p:cNvPr>
          <p:cNvSpPr>
            <a:spLocks xmlns:a="http://schemas.openxmlformats.org/drawingml/2006/main" noGrp="1"/>
          </p:cNvSpPr>
          <p:nvPr/>
        </p:nvSpPr>
        <p:spPr>
          <a:xfrm xmlns:a="http://schemas.openxmlformats.org/drawingml/2006/main">
            <a:off x="19145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5" name="cfs-statistics">
            <a:extLst xmlns:a="http://schemas.openxmlformats.org/drawingml/2006/main">
              <a:ext uri="{FF2B5EF4-FFF2-40B4-BE49-F238E27FC236}">
                <a16:creationId xmlns:a16="http://schemas.microsoft.com/office/drawing/2014/main" id="{4F2B0811-0391-450F-B390-32E25ECB8674}"/>
              </a:ext>
            </a:extLst>
          </p:cNvPr>
          <p:cNvSpPr>
            <a:spLocks xmlns:a="http://schemas.openxmlformats.org/drawingml/2006/main" noGrp="1"/>
          </p:cNvSpPr>
          <p:nvPr/>
        </p:nvSpPr>
        <p:spPr>
          <a:xfrm xmlns:a="http://schemas.openxmlformats.org/drawingml/2006/main">
            <a:off x="23431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Học MLP</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contrastive nhỏ</a:t>
            </a:r>
          </a:p>
        </p:txBody>
      </p:sp>
      <p:sp>
        <p:nvSpPr>
          <p:cNvPr id="6" name="arrow-4-2">
            <a:extLst xmlns:a="http://schemas.openxmlformats.org/drawingml/2006/main">
              <a:ext uri="{FF2B5EF4-FFF2-40B4-BE49-F238E27FC236}">
                <a16:creationId xmlns:a16="http://schemas.microsoft.com/office/drawing/2014/main" id="{FA70930C-7528-4137-9896-9E137812CB06}"/>
              </a:ext>
            </a:extLst>
          </p:cNvPr>
          <p:cNvSpPr>
            <a:spLocks xmlns:a="http://schemas.openxmlformats.org/drawingml/2006/main" noGrp="1"/>
          </p:cNvSpPr>
          <p:nvPr/>
        </p:nvSpPr>
        <p:spPr>
          <a:xfrm xmlns:a="http://schemas.openxmlformats.org/drawingml/2006/main">
            <a:off x="38576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7" name="cfs-candidates">
            <a:extLst xmlns:a="http://schemas.openxmlformats.org/drawingml/2006/main">
              <a:ext uri="{FF2B5EF4-FFF2-40B4-BE49-F238E27FC236}">
                <a16:creationId xmlns:a16="http://schemas.microsoft.com/office/drawing/2014/main" id="{53160EEC-4BBA-4A15-83DB-88631E80CC92}"/>
              </a:ext>
            </a:extLst>
          </p:cNvPr>
          <p:cNvSpPr>
            <a:spLocks xmlns:a="http://schemas.openxmlformats.org/drawingml/2006/main" noGrp="1"/>
          </p:cNvSpPr>
          <p:nvPr/>
        </p:nvSpPr>
        <p:spPr>
          <a:xfrm xmlns:a="http://schemas.openxmlformats.org/drawingml/2006/main">
            <a:off x="4286250" y="2381250"/>
            <a:ext cx="146685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Sinh nhiều</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Gaussian candidate</a:t>
            </a:r>
          </a:p>
        </p:txBody>
      </p:sp>
      <p:sp>
        <p:nvSpPr>
          <p:cNvPr id="8" name="arrow-4-3">
            <a:extLst xmlns:a="http://schemas.openxmlformats.org/drawingml/2006/main">
              <a:ext uri="{FF2B5EF4-FFF2-40B4-BE49-F238E27FC236}">
                <a16:creationId xmlns:a16="http://schemas.microsoft.com/office/drawing/2014/main" id="{50C20CEF-7DD1-405C-A005-9A359C8D3667}"/>
              </a:ext>
            </a:extLst>
          </p:cNvPr>
          <p:cNvSpPr>
            <a:spLocks xmlns:a="http://schemas.openxmlformats.org/drawingml/2006/main" noGrp="1"/>
          </p:cNvSpPr>
          <p:nvPr/>
        </p:nvSpPr>
        <p:spPr>
          <a:xfrm xmlns:a="http://schemas.openxmlformats.org/drawingml/2006/main">
            <a:off x="58007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9" name="cfs-selection">
            <a:extLst xmlns:a="http://schemas.openxmlformats.org/drawingml/2006/main">
              <a:ext uri="{FF2B5EF4-FFF2-40B4-BE49-F238E27FC236}">
                <a16:creationId xmlns:a16="http://schemas.microsoft.com/office/drawing/2014/main" id="{3DB53CDB-1FAA-4B5A-A156-F2FC00169635}"/>
              </a:ext>
            </a:extLst>
          </p:cNvPr>
          <p:cNvSpPr>
            <a:spLocks xmlns:a="http://schemas.openxmlformats.org/drawingml/2006/main" noGrp="1"/>
          </p:cNvSpPr>
          <p:nvPr/>
        </p:nvSpPr>
        <p:spPr>
          <a:xfrm xmlns:a="http://schemas.openxmlformats.org/drawingml/2006/main">
            <a:off x="62293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Chiếu qua</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MLP CFS</a:t>
            </a:r>
          </a:p>
        </p:txBody>
      </p:sp>
      <p:sp>
        <p:nvSpPr>
          <p:cNvPr id="10" name="arrow-4-4">
            <a:extLst xmlns:a="http://schemas.openxmlformats.org/drawingml/2006/main">
              <a:ext uri="{FF2B5EF4-FFF2-40B4-BE49-F238E27FC236}">
                <a16:creationId xmlns:a16="http://schemas.microsoft.com/office/drawing/2014/main" id="{74E64046-BC63-4D1E-AB33-F573925CEEAE}"/>
              </a:ext>
            </a:extLst>
          </p:cNvPr>
          <p:cNvSpPr>
            <a:spLocks xmlns:a="http://schemas.openxmlformats.org/drawingml/2006/main" noGrp="1"/>
          </p:cNvSpPr>
          <p:nvPr/>
        </p:nvSpPr>
        <p:spPr>
          <a:xfrm xmlns:a="http://schemas.openxmlformats.org/drawingml/2006/main">
            <a:off x="77438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1" name="cfs-crct">
            <a:extLst xmlns:a="http://schemas.openxmlformats.org/drawingml/2006/main">
              <a:ext uri="{FF2B5EF4-FFF2-40B4-BE49-F238E27FC236}">
                <a16:creationId xmlns:a16="http://schemas.microsoft.com/office/drawing/2014/main" id="{E3FC9362-7CA8-4298-96DA-43FA010793B6}"/>
              </a:ext>
            </a:extLst>
          </p:cNvPr>
          <p:cNvSpPr>
            <a:spLocks xmlns:a="http://schemas.openxmlformats.org/drawingml/2006/main" noGrp="1"/>
          </p:cNvSpPr>
          <p:nvPr/>
        </p:nvSpPr>
        <p:spPr>
          <a:xfrm xmlns:a="http://schemas.openxmlformats.org/drawingml/2006/main">
            <a:off x="8172450" y="2381250"/>
            <a:ext cx="1466850" cy="952500"/>
          </a:xfrm>
          <a:prstGeom xmlns:a="http://schemas.openxmlformats.org/drawingml/2006/main" prst="roundRect">
            <a:avLst>
              <a:gd name="adj" fmla="val 8000"/>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Chọn mẫu ít</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giống nhau nhất</a:t>
            </a:r>
          </a:p>
        </p:txBody>
      </p:sp>
      <p:sp>
        <p:nvSpPr>
          <p:cNvPr id="12" name="arrow-4-5">
            <a:extLst xmlns:a="http://schemas.openxmlformats.org/drawingml/2006/main">
              <a:ext uri="{FF2B5EF4-FFF2-40B4-BE49-F238E27FC236}">
                <a16:creationId xmlns:a16="http://schemas.microsoft.com/office/drawing/2014/main" id="{A8F1D6AE-9BAA-46FB-9779-4EAFA3A10FA1}"/>
              </a:ext>
            </a:extLst>
          </p:cNvPr>
          <p:cNvSpPr>
            <a:spLocks xmlns:a="http://schemas.openxmlformats.org/drawingml/2006/main" noGrp="1"/>
          </p:cNvSpPr>
          <p:nvPr/>
        </p:nvSpPr>
        <p:spPr>
          <a:xfrm xmlns:a="http://schemas.openxmlformats.org/drawingml/2006/main">
            <a:off x="9686925" y="2571750"/>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3" name="cfs-result">
            <a:extLst xmlns:a="http://schemas.openxmlformats.org/drawingml/2006/main">
              <a:ext uri="{FF2B5EF4-FFF2-40B4-BE49-F238E27FC236}">
                <a16:creationId xmlns:a16="http://schemas.microsoft.com/office/drawing/2014/main" id="{F23537CC-076E-4B44-BC36-327854192526}"/>
              </a:ext>
            </a:extLst>
          </p:cNvPr>
          <p:cNvSpPr>
            <a:spLocks xmlns:a="http://schemas.openxmlformats.org/drawingml/2006/main" noGrp="1"/>
          </p:cNvSpPr>
          <p:nvPr/>
        </p:nvSpPr>
        <p:spPr>
          <a:xfrm xmlns:a="http://schemas.openxmlformats.org/drawingml/2006/main">
            <a:off x="10115550" y="2381250"/>
            <a:ext cx="1676400" cy="95250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Replay đưa</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vào CRCT</a:t>
            </a:r>
          </a:p>
        </p:txBody>
      </p:sp>
      <p:sp>
        <p:nvSpPr>
          <p:cNvPr id="14" name="cfs-main-message">
            <a:extLst xmlns:a="http://schemas.openxmlformats.org/drawingml/2006/main">
              <a:ext uri="{FF2B5EF4-FFF2-40B4-BE49-F238E27FC236}">
                <a16:creationId xmlns:a16="http://schemas.microsoft.com/office/drawing/2014/main" id="{2D3273F7-5940-4A21-8175-39D4BB78C291}"/>
              </a:ext>
            </a:extLst>
          </p:cNvPr>
          <p:cNvSpPr>
            <a:spLocks xmlns:a="http://schemas.openxmlformats.org/drawingml/2006/main" noGrp="1"/>
          </p:cNvSpPr>
          <p:nvPr/>
        </p:nvSpPr>
        <p:spPr>
          <a:xfrm xmlns:a="http://schemas.openxmlformats.org/drawingml/2006/main">
            <a:off x="1143000" y="40957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875" b="0">
                <a:solidFill>
                  <a:srgbClr val="58606B"/>
                </a:solidFill>
                <a:latin typeface="Arial"/>
                <a:ea typeface="Arial"/>
                <a:cs typeface="Arial"/>
              </a:defRPr>
            </a:pPr>
            <a:r>
              <a:rPr sz="1875" b="0">
                <a:solidFill>
                  <a:srgbClr val="58606B"/>
                </a:solidFill>
                <a:latin typeface="Arial"/>
                <a:ea typeface="Arial"/>
                <a:cs typeface="Arial"/>
              </a:rPr>
              <a:t>Ý tưởng được chuyển từ paper CFS sang feature replay của HRM-PET: giữ phần chọn feature đa dạng, không dùng model inversion để sinh ảnh.</a:t>
            </a:r>
          </a:p>
        </p:txBody>
      </p:sp>
    </p:spTree>
    <p:extLst>
      <p:ext uri="{BB962C8B-B14F-4D97-AF65-F5344CB8AC3E}">
        <p14:creationId xmlns:p14="http://schemas.microsoft.com/office/powerpoint/2010/main" val="5325101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BA0E32B-4A2E-4896-B863-9BE1D6C8592A}"/>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2-3">
            <a:extLst xmlns:a="http://schemas.openxmlformats.org/drawingml/2006/main">
              <a:ext uri="{FF2B5EF4-FFF2-40B4-BE49-F238E27FC236}">
                <a16:creationId xmlns:a16="http://schemas.microsoft.com/office/drawing/2014/main" id="{844DEAD9-146A-4CA9-B078-7F915B4B6F4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Replay tốt hơn cả về chất lượng, số lượng và độ khó</a:t>
            </a:r>
          </a:p>
        </p:txBody>
      </p:sp>
      <p:sp>
        <p:nvSpPr>
          <p:cNvPr id="3" name="Content-Placeholder-9-4">
            <a:extLst xmlns:a="http://schemas.openxmlformats.org/drawingml/2006/main">
              <a:ext uri="{FF2B5EF4-FFF2-40B4-BE49-F238E27FC236}">
                <a16:creationId xmlns:a16="http://schemas.microsoft.com/office/drawing/2014/main" id="{A9922376-4809-4840-A7F2-D2014D677C4E}"/>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CFS diversity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Giảm feature gần nhau, tăng lượng thông tin được đại diện.</a:t>
            </a:r>
          </a:p>
        </p:txBody>
      </p:sp>
      <p:sp>
        <p:nvSpPr>
          <p:cNvPr id="4" name="Content-Placeholder-10-5">
            <a:extLst xmlns:a="http://schemas.openxmlformats.org/drawingml/2006/main">
              <a:ext uri="{FF2B5EF4-FFF2-40B4-BE49-F238E27FC236}">
                <a16:creationId xmlns:a16="http://schemas.microsoft.com/office/drawing/2014/main" id="{B2435C28-8812-43D2-93CA-9F742BD16718}"/>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Full replay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CRCT sử dụng toàn bộ tập feature đã chọn thay vì bỏ dở.</a:t>
            </a:r>
          </a:p>
        </p:txBody>
      </p:sp>
      <p:sp>
        <p:nvSpPr>
          <p:cNvPr id="5" name="Content-Placeholder-9-6">
            <a:extLst xmlns:a="http://schemas.openxmlformats.org/drawingml/2006/main">
              <a:ext uri="{FF2B5EF4-FFF2-40B4-BE49-F238E27FC236}">
                <a16:creationId xmlns:a16="http://schemas.microsoft.com/office/drawing/2014/main" id="{219990AF-CA3D-47A9-820D-E458937D8DE9}"/>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25% boundary</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Bổ sung mẫu gần biên quyết định, nơi classifier dễ nhầm.</a:t>
            </a:r>
          </a:p>
        </p:txBody>
      </p:sp>
      <p:sp>
        <p:nvSpPr>
          <p:cNvPr id="6" name="Content-Placeholder-10-7">
            <a:extLst xmlns:a="http://schemas.openxmlformats.org/drawingml/2006/main">
              <a:ext uri="{FF2B5EF4-FFF2-40B4-BE49-F238E27FC236}">
                <a16:creationId xmlns:a16="http://schemas.microsoft.com/office/drawing/2014/main" id="{1DA4BA05-DE22-4ECD-AA74-C6607E79CB4F}"/>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Không tăng inference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Các bước này chỉ chạy khi huấn luyện/correction, không chạy lúc dự đoán.</a:t>
            </a:r>
          </a:p>
        </p:txBody>
      </p:sp>
    </p:spTree>
    <p:extLst>
      <p:ext uri="{BB962C8B-B14F-4D97-AF65-F5344CB8AC3E}">
        <p14:creationId xmlns:p14="http://schemas.microsoft.com/office/powerpoint/2010/main" val="9493644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B46D6A81-5629-445E-922C-F5572C965E8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4CE8074F-73FB-4F57-9ACA-76C2AEDCDA7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CTIRD trong paper và code baseline chưa giống nhau</a:t>
            </a:r>
          </a:p>
        </p:txBody>
      </p:sp>
      <p:sp>
        <p:nvSpPr>
          <p:cNvPr id="3" name="Google-Shape-534-p58-4">
            <a:extLst xmlns:a="http://schemas.openxmlformats.org/drawingml/2006/main">
              <a:ext uri="{FF2B5EF4-FFF2-40B4-BE49-F238E27FC236}">
                <a16:creationId xmlns:a16="http://schemas.microsoft.com/office/drawing/2014/main" id="{DBC45B0E-B337-4E4B-8C9E-72D27CC2F2E4}"/>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Ý ĐỊNH TRONG PAPER</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Với mỗi mẫu mới, chọn top-K task cũ có độ tin cậy cao. Sau đó căn ma trận quan hệ mẫu bằng KL.</a:t>
            </a:r>
          </a:p>
        </p:txBody>
      </p:sp>
      <p:sp>
        <p:nvSpPr>
          <p:cNvPr id="4" name="Content-Placeholder-1-5">
            <a:extLst xmlns:a="http://schemas.openxmlformats.org/drawingml/2006/main">
              <a:ext uri="{FF2B5EF4-FFF2-40B4-BE49-F238E27FC236}">
                <a16:creationId xmlns:a16="http://schemas.microsoft.com/office/drawing/2014/main" id="{0729434F-3903-4D34-A7D3-84423698CD36}"/>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VÌ SAO CẦN SỬA</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CTIRD vẫn tính KL đúng, nhưng source LoRA không phù hợp làm hướng distillation trở nên nhiễu.</a:t>
            </a:r>
          </a:p>
        </p:txBody>
      </p:sp>
      <p:sp>
        <p:nvSpPr>
          <p:cNvPr id="5" name="Content-Placeholder-2-6">
            <a:extLst xmlns:a="http://schemas.openxmlformats.org/drawingml/2006/main">
              <a:ext uri="{FF2B5EF4-FFF2-40B4-BE49-F238E27FC236}">
                <a16:creationId xmlns:a16="http://schemas.microsoft.com/office/drawing/2014/main" id="{375C4D95-E455-4C2E-87D5-C488A47F93C2}"/>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99107"/>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HÀNH VI CODE BASELINE</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Top-k chạy trên class logits với largest=False, rồi mới đổi class sang task. Task có thể ít liên quan hoặc bị trùng.</a:t>
            </a:r>
          </a:p>
        </p:txBody>
      </p:sp>
    </p:spTree>
    <p:extLst>
      <p:ext uri="{BB962C8B-B14F-4D97-AF65-F5344CB8AC3E}">
        <p14:creationId xmlns:p14="http://schemas.microsoft.com/office/powerpoint/2010/main" val="8038995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6-title">
            <a:extLst xmlns:a="http://schemas.openxmlformats.org/drawingml/2006/main">
              <a:ext uri="{FF2B5EF4-FFF2-40B4-BE49-F238E27FC236}">
                <a16:creationId xmlns:a16="http://schemas.microsoft.com/office/drawing/2014/main" id="{A379E277-B31D-448F-837E-328D301A5A26}"/>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Task energy đưa CTIRD trở lại đúng cấp task</a:t>
            </a:r>
          </a:p>
        </p:txBody>
      </p:sp>
      <p:sp>
        <p:nvSpPr>
          <p:cNvPr id="2" name="slide-6-footer">
            <a:extLst xmlns:a="http://schemas.openxmlformats.org/drawingml/2006/main">
              <a:ext uri="{FF2B5EF4-FFF2-40B4-BE49-F238E27FC236}">
                <a16:creationId xmlns:a16="http://schemas.microsoft.com/office/drawing/2014/main" id="{AD99CD9E-B121-46E5-BB76-2364D01FF9EC}"/>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9</a:t>
            </a:r>
          </a:p>
        </p:txBody>
      </p:sp>
      <p:sp>
        <p:nvSpPr>
          <p:cNvPr id="3" name="ctird-before-label">
            <a:extLst xmlns:a="http://schemas.openxmlformats.org/drawingml/2006/main">
              <a:ext uri="{FF2B5EF4-FFF2-40B4-BE49-F238E27FC236}">
                <a16:creationId xmlns:a16="http://schemas.microsoft.com/office/drawing/2014/main" id="{AD99C9EF-ECD6-47B1-AF91-693C38A8AB12}"/>
              </a:ext>
            </a:extLst>
          </p:cNvPr>
          <p:cNvSpPr>
            <a:spLocks xmlns:a="http://schemas.openxmlformats.org/drawingml/2006/main" noGrp="1"/>
          </p:cNvSpPr>
          <p:nvPr/>
        </p:nvSpPr>
        <p:spPr>
          <a:xfrm xmlns:a="http://schemas.openxmlformats.org/drawingml/2006/main">
            <a:off x="400050" y="149542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58606B"/>
                </a:solidFill>
                <a:latin typeface="Arial"/>
                <a:ea typeface="Arial"/>
                <a:cs typeface="Arial"/>
              </a:defRPr>
            </a:pPr>
            <a:r>
              <a:rPr sz="1350" b="1">
                <a:solidFill>
                  <a:srgbClr val="58606B"/>
                </a:solidFill>
                <a:latin typeface="Arial"/>
                <a:ea typeface="Arial"/>
                <a:cs typeface="Arial"/>
              </a:rPr>
              <a:t>CODE CŨ</a:t>
            </a:r>
          </a:p>
        </p:txBody>
      </p:sp>
      <p:sp>
        <p:nvSpPr>
          <p:cNvPr id="4" name="ctird-old-1">
            <a:extLst xmlns:a="http://schemas.openxmlformats.org/drawingml/2006/main">
              <a:ext uri="{FF2B5EF4-FFF2-40B4-BE49-F238E27FC236}">
                <a16:creationId xmlns:a16="http://schemas.microsoft.com/office/drawing/2014/main" id="{92A2B5BA-46E9-4BDA-BF60-0BBF2070908B}"/>
              </a:ext>
            </a:extLst>
          </p:cNvPr>
          <p:cNvSpPr>
            <a:spLocks xmlns:a="http://schemas.openxmlformats.org/drawingml/2006/main" noGrp="1"/>
          </p:cNvSpPr>
          <p:nvPr/>
        </p:nvSpPr>
        <p:spPr>
          <a:xfrm xmlns:a="http://schemas.openxmlformats.org/drawingml/2006/main">
            <a:off x="40005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Xếp hạng</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class logits</a:t>
            </a:r>
          </a:p>
        </p:txBody>
      </p:sp>
      <p:sp>
        <p:nvSpPr>
          <p:cNvPr id="5" name="ctird-old-arrow-1">
            <a:extLst xmlns:a="http://schemas.openxmlformats.org/drawingml/2006/main">
              <a:ext uri="{FF2B5EF4-FFF2-40B4-BE49-F238E27FC236}">
                <a16:creationId xmlns:a16="http://schemas.microsoft.com/office/drawing/2014/main" id="{7BCB4E1B-D46A-4F99-AD3F-ADE066A14366}"/>
              </a:ext>
            </a:extLst>
          </p:cNvPr>
          <p:cNvSpPr>
            <a:spLocks xmlns:a="http://schemas.openxmlformats.org/drawingml/2006/main" noGrp="1"/>
          </p:cNvSpPr>
          <p:nvPr/>
        </p:nvSpPr>
        <p:spPr>
          <a:xfrm xmlns:a="http://schemas.openxmlformats.org/drawingml/2006/main">
            <a:off x="290512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6" name="ctird-old-2">
            <a:extLst xmlns:a="http://schemas.openxmlformats.org/drawingml/2006/main">
              <a:ext uri="{FF2B5EF4-FFF2-40B4-BE49-F238E27FC236}">
                <a16:creationId xmlns:a16="http://schemas.microsoft.com/office/drawing/2014/main" id="{3F2C6AC5-02F6-4FB9-A368-BCA300371E7C}"/>
              </a:ext>
            </a:extLst>
          </p:cNvPr>
          <p:cNvSpPr>
            <a:spLocks xmlns:a="http://schemas.openxmlformats.org/drawingml/2006/main" noGrp="1"/>
          </p:cNvSpPr>
          <p:nvPr/>
        </p:nvSpPr>
        <p:spPr>
          <a:xfrm xmlns:a="http://schemas.openxmlformats.org/drawingml/2006/main">
            <a:off x="342900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Chọn phía</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logit thấp</a:t>
            </a:r>
          </a:p>
        </p:txBody>
      </p:sp>
      <p:sp>
        <p:nvSpPr>
          <p:cNvPr id="7" name="ctird-old-arrow-2">
            <a:extLst xmlns:a="http://schemas.openxmlformats.org/drawingml/2006/main">
              <a:ext uri="{FF2B5EF4-FFF2-40B4-BE49-F238E27FC236}">
                <a16:creationId xmlns:a16="http://schemas.microsoft.com/office/drawing/2014/main" id="{D50CE1E9-35CC-4A47-9BDB-212D752C5055}"/>
              </a:ext>
            </a:extLst>
          </p:cNvPr>
          <p:cNvSpPr>
            <a:spLocks xmlns:a="http://schemas.openxmlformats.org/drawingml/2006/main" noGrp="1"/>
          </p:cNvSpPr>
          <p:nvPr/>
        </p:nvSpPr>
        <p:spPr>
          <a:xfrm xmlns:a="http://schemas.openxmlformats.org/drawingml/2006/main">
            <a:off x="593407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8" name="ctird-old-3">
            <a:extLst xmlns:a="http://schemas.openxmlformats.org/drawingml/2006/main">
              <a:ext uri="{FF2B5EF4-FFF2-40B4-BE49-F238E27FC236}">
                <a16:creationId xmlns:a16="http://schemas.microsoft.com/office/drawing/2014/main" id="{48EC0227-DA56-48F1-8E93-7ADE35BE4E3F}"/>
              </a:ext>
            </a:extLst>
          </p:cNvPr>
          <p:cNvSpPr>
            <a:spLocks xmlns:a="http://schemas.openxmlformats.org/drawingml/2006/main" noGrp="1"/>
          </p:cNvSpPr>
          <p:nvPr/>
        </p:nvSpPr>
        <p:spPr>
          <a:xfrm xmlns:a="http://schemas.openxmlformats.org/drawingml/2006/main">
            <a:off x="6457950" y="2047875"/>
            <a:ext cx="23812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Map class</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sang task</a:t>
            </a:r>
          </a:p>
        </p:txBody>
      </p:sp>
      <p:sp>
        <p:nvSpPr>
          <p:cNvPr id="9" name="ctird-old-arrow-3">
            <a:extLst xmlns:a="http://schemas.openxmlformats.org/drawingml/2006/main">
              <a:ext uri="{FF2B5EF4-FFF2-40B4-BE49-F238E27FC236}">
                <a16:creationId xmlns:a16="http://schemas.microsoft.com/office/drawing/2014/main" id="{88C9EA87-20CD-4D45-A7D8-47E6E0390AA0}"/>
              </a:ext>
            </a:extLst>
          </p:cNvPr>
          <p:cNvSpPr>
            <a:spLocks xmlns:a="http://schemas.openxmlformats.org/drawingml/2006/main" noGrp="1"/>
          </p:cNvSpPr>
          <p:nvPr/>
        </p:nvSpPr>
        <p:spPr>
          <a:xfrm xmlns:a="http://schemas.openxmlformats.org/drawingml/2006/main">
            <a:off x="8963025" y="221932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0" name="ctird-old-4">
            <a:extLst xmlns:a="http://schemas.openxmlformats.org/drawingml/2006/main">
              <a:ext uri="{FF2B5EF4-FFF2-40B4-BE49-F238E27FC236}">
                <a16:creationId xmlns:a16="http://schemas.microsoft.com/office/drawing/2014/main" id="{1BA9DC2E-1F55-406B-81C9-10C9CF56ED44}"/>
              </a:ext>
            </a:extLst>
          </p:cNvPr>
          <p:cNvSpPr>
            <a:spLocks xmlns:a="http://schemas.openxmlformats.org/drawingml/2006/main" noGrp="1"/>
          </p:cNvSpPr>
          <p:nvPr/>
        </p:nvSpPr>
        <p:spPr>
          <a:xfrm xmlns:a="http://schemas.openxmlformats.org/drawingml/2006/main">
            <a:off x="9486900" y="2047875"/>
            <a:ext cx="2305050" cy="876300"/>
          </a:xfrm>
          <a:prstGeom xmlns:a="http://schemas.openxmlformats.org/drawingml/2006/main" prst="roundRect">
            <a:avLst>
              <a:gd name="adj" fmla="val 869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Source dễ</a:t>
            </a:r>
          </a:p>
          <a:p xmlns:a="http://schemas.openxmlformats.org/drawingml/2006/main">
            <a:pPr algn="ctr">
              <a:buNone/>
              <a:defRPr sz="1575" b="0">
                <a:solidFill>
                  <a:srgbClr val="000000"/>
                </a:solidFill>
                <a:latin typeface="Arial"/>
                <a:ea typeface="Arial"/>
                <a:cs typeface="Arial"/>
              </a:defRPr>
            </a:pPr>
            <a:r>
              <a:rPr sz="1575" b="0">
                <a:solidFill>
                  <a:srgbClr val="000000"/>
                </a:solidFill>
                <a:latin typeface="Arial"/>
                <a:ea typeface="Arial"/>
                <a:cs typeface="Arial"/>
              </a:rPr>
              <a:t>trùng/nhiễu</a:t>
            </a:r>
          </a:p>
        </p:txBody>
      </p:sp>
      <p:sp>
        <p:nvSpPr>
          <p:cNvPr id="11" name="ctird-after-label">
            <a:extLst xmlns:a="http://schemas.openxmlformats.org/drawingml/2006/main">
              <a:ext uri="{FF2B5EF4-FFF2-40B4-BE49-F238E27FC236}">
                <a16:creationId xmlns:a16="http://schemas.microsoft.com/office/drawing/2014/main" id="{08D01777-F712-4FA9-B026-D790298812F9}"/>
              </a:ext>
            </a:extLst>
          </p:cNvPr>
          <p:cNvSpPr>
            <a:spLocks xmlns:a="http://schemas.openxmlformats.org/drawingml/2006/main" noGrp="1"/>
          </p:cNvSpPr>
          <p:nvPr/>
        </p:nvSpPr>
        <p:spPr>
          <a:xfrm xmlns:a="http://schemas.openxmlformats.org/drawingml/2006/main">
            <a:off x="400050" y="357187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CODE MỚI</a:t>
            </a:r>
          </a:p>
        </p:txBody>
      </p:sp>
      <p:sp>
        <p:nvSpPr>
          <p:cNvPr id="12" name="ctird-new-1">
            <a:extLst xmlns:a="http://schemas.openxmlformats.org/drawingml/2006/main">
              <a:ext uri="{FF2B5EF4-FFF2-40B4-BE49-F238E27FC236}">
                <a16:creationId xmlns:a16="http://schemas.microsoft.com/office/drawing/2014/main" id="{FC3C4967-F763-41A9-A4E9-B4877BAE9509}"/>
              </a:ext>
            </a:extLst>
          </p:cNvPr>
          <p:cNvSpPr>
            <a:spLocks xmlns:a="http://schemas.openxmlformats.org/drawingml/2006/main" noGrp="1"/>
          </p:cNvSpPr>
          <p:nvPr/>
        </p:nvSpPr>
        <p:spPr>
          <a:xfrm xmlns:a="http://schemas.openxmlformats.org/drawingml/2006/main">
            <a:off x="40005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Gộp class</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thành task energy</a:t>
            </a:r>
          </a:p>
        </p:txBody>
      </p:sp>
      <p:sp>
        <p:nvSpPr>
          <p:cNvPr id="13" name="ctird-new-arrow-1">
            <a:extLst xmlns:a="http://schemas.openxmlformats.org/drawingml/2006/main">
              <a:ext uri="{FF2B5EF4-FFF2-40B4-BE49-F238E27FC236}">
                <a16:creationId xmlns:a16="http://schemas.microsoft.com/office/drawing/2014/main" id="{090F1663-50A4-4B7E-B0FF-FD7FB8C57A5B}"/>
              </a:ext>
            </a:extLst>
          </p:cNvPr>
          <p:cNvSpPr>
            <a:spLocks xmlns:a="http://schemas.openxmlformats.org/drawingml/2006/main" noGrp="1"/>
          </p:cNvSpPr>
          <p:nvPr/>
        </p:nvSpPr>
        <p:spPr>
          <a:xfrm xmlns:a="http://schemas.openxmlformats.org/drawingml/2006/main">
            <a:off x="290512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4" name="ctird-new-2">
            <a:extLst xmlns:a="http://schemas.openxmlformats.org/drawingml/2006/main">
              <a:ext uri="{FF2B5EF4-FFF2-40B4-BE49-F238E27FC236}">
                <a16:creationId xmlns:a16="http://schemas.microsoft.com/office/drawing/2014/main" id="{97DD3670-CCBD-4798-AE2F-905D6A1610DD}"/>
              </a:ext>
            </a:extLst>
          </p:cNvPr>
          <p:cNvSpPr>
            <a:spLocks xmlns:a="http://schemas.openxmlformats.org/drawingml/2006/main" noGrp="1"/>
          </p:cNvSpPr>
          <p:nvPr/>
        </p:nvSpPr>
        <p:spPr>
          <a:xfrm xmlns:a="http://schemas.openxmlformats.org/drawingml/2006/main">
            <a:off x="342900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Chọn top-5</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task riêng biệt</a:t>
            </a:r>
          </a:p>
        </p:txBody>
      </p:sp>
      <p:sp>
        <p:nvSpPr>
          <p:cNvPr id="15" name="ctird-new-arrow-2">
            <a:extLst xmlns:a="http://schemas.openxmlformats.org/drawingml/2006/main">
              <a:ext uri="{FF2B5EF4-FFF2-40B4-BE49-F238E27FC236}">
                <a16:creationId xmlns:a16="http://schemas.microsoft.com/office/drawing/2014/main" id="{DBD206CE-A8EC-425D-AD4B-1D8918EECBE5}"/>
              </a:ext>
            </a:extLst>
          </p:cNvPr>
          <p:cNvSpPr>
            <a:spLocks xmlns:a="http://schemas.openxmlformats.org/drawingml/2006/main" noGrp="1"/>
          </p:cNvSpPr>
          <p:nvPr/>
        </p:nvSpPr>
        <p:spPr>
          <a:xfrm xmlns:a="http://schemas.openxmlformats.org/drawingml/2006/main">
            <a:off x="593407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6" name="ctird-new-3">
            <a:extLst xmlns:a="http://schemas.openxmlformats.org/drawingml/2006/main">
              <a:ext uri="{FF2B5EF4-FFF2-40B4-BE49-F238E27FC236}">
                <a16:creationId xmlns:a16="http://schemas.microsoft.com/office/drawing/2014/main" id="{D3B22E0A-33EE-4A2D-8BE3-CC012ACEB86F}"/>
              </a:ext>
            </a:extLst>
          </p:cNvPr>
          <p:cNvSpPr>
            <a:spLocks xmlns:a="http://schemas.openxmlformats.org/drawingml/2006/main" noGrp="1"/>
          </p:cNvSpPr>
          <p:nvPr/>
        </p:nvSpPr>
        <p:spPr>
          <a:xfrm xmlns:a="http://schemas.openxmlformats.org/drawingml/2006/main">
            <a:off x="6457950" y="4124325"/>
            <a:ext cx="23812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Task energy cao</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nhận weight lớn</a:t>
            </a:r>
          </a:p>
        </p:txBody>
      </p:sp>
      <p:sp>
        <p:nvSpPr>
          <p:cNvPr id="17" name="ctird-new-arrow-3">
            <a:extLst xmlns:a="http://schemas.openxmlformats.org/drawingml/2006/main">
              <a:ext uri="{FF2B5EF4-FFF2-40B4-BE49-F238E27FC236}">
                <a16:creationId xmlns:a16="http://schemas.microsoft.com/office/drawing/2014/main" id="{32D6D2DA-D4C0-4FEE-A9AA-5BA462AD5328}"/>
              </a:ext>
            </a:extLst>
          </p:cNvPr>
          <p:cNvSpPr>
            <a:spLocks xmlns:a="http://schemas.openxmlformats.org/drawingml/2006/main" noGrp="1"/>
          </p:cNvSpPr>
          <p:nvPr/>
        </p:nvSpPr>
        <p:spPr>
          <a:xfrm xmlns:a="http://schemas.openxmlformats.org/drawingml/2006/main">
            <a:off x="8963025" y="4295775"/>
            <a:ext cx="40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550" b="0">
                <a:solidFill>
                  <a:srgbClr val="58606B"/>
                </a:solidFill>
                <a:latin typeface="Arial"/>
                <a:ea typeface="Arial"/>
                <a:cs typeface="Arial"/>
              </a:defRPr>
            </a:pPr>
            <a:r>
              <a:rPr sz="2550" b="0">
                <a:solidFill>
                  <a:srgbClr val="58606B"/>
                </a:solidFill>
                <a:latin typeface="Arial"/>
                <a:ea typeface="Arial"/>
                <a:cs typeface="Arial"/>
              </a:rPr>
              <a:t>→</a:t>
            </a:r>
          </a:p>
        </p:txBody>
      </p:sp>
      <p:sp>
        <p:nvSpPr>
          <p:cNvPr id="18" name="ctird-new-4">
            <a:extLst xmlns:a="http://schemas.openxmlformats.org/drawingml/2006/main">
              <a:ext uri="{FF2B5EF4-FFF2-40B4-BE49-F238E27FC236}">
                <a16:creationId xmlns:a16="http://schemas.microsoft.com/office/drawing/2014/main" id="{9192D7DB-5068-4B56-A05F-63995C71224B}"/>
              </a:ext>
            </a:extLst>
          </p:cNvPr>
          <p:cNvSpPr>
            <a:spLocks xmlns:a="http://schemas.openxmlformats.org/drawingml/2006/main" noGrp="1"/>
          </p:cNvSpPr>
          <p:nvPr/>
        </p:nvSpPr>
        <p:spPr>
          <a:xfrm xmlns:a="http://schemas.openxmlformats.org/drawingml/2006/main">
            <a:off x="9486900" y="4124325"/>
            <a:ext cx="2305050" cy="876300"/>
          </a:xfrm>
          <a:prstGeom xmlns:a="http://schemas.openxmlformats.org/drawingml/2006/main" prst="roundRect">
            <a:avLst>
              <a:gd name="adj" fmla="val 8696"/>
            </a:avLst>
          </a:prstGeom>
          <a:solidFill xmlns:a="http://schemas.openxmlformats.org/drawingml/2006/main">
            <a:srgbClr val="D0EDFA"/>
          </a:solidFill>
          <a:ln xmlns:a="http://schemas.openxmlformats.org/drawingml/2006/main" w="19050">
            <a:solidFill>
              <a:srgbClr val="3D8D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Chuẩn hóa tổng</a:t>
            </a:r>
          </a:p>
          <a:p xmlns:a="http://schemas.openxmlformats.org/drawingml/2006/main">
            <a:pPr algn="ctr">
              <a:buNone/>
              <a:defRPr sz="1575" b="1">
                <a:solidFill>
                  <a:srgbClr val="000000"/>
                </a:solidFill>
                <a:latin typeface="Arial"/>
                <a:ea typeface="Arial"/>
                <a:cs typeface="Arial"/>
              </a:defRPr>
            </a:pPr>
            <a:r>
              <a:rPr sz="1575" b="1">
                <a:solidFill>
                  <a:srgbClr val="000000"/>
                </a:solidFill>
                <a:latin typeface="Arial"/>
                <a:ea typeface="Arial"/>
                <a:cs typeface="Arial"/>
              </a:rPr>
              <a:t>lực CTIRD</a:t>
            </a:r>
          </a:p>
        </p:txBody>
      </p:sp>
    </p:spTree>
    <p:extLst>
      <p:ext uri="{BB962C8B-B14F-4D97-AF65-F5344CB8AC3E}">
        <p14:creationId xmlns:p14="http://schemas.microsoft.com/office/powerpoint/2010/main" val="173605593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81048B8C-736D-4E6A-BB79-5AEFBBD5153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374D8597-B583-4FDE-BD93-05411ED73B3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Semantic đã được thử, nhưng chưa đủ ổn định để giữ lại</a:t>
            </a:r>
          </a:p>
        </p:txBody>
      </p:sp>
      <p:sp>
        <p:nvSpPr>
          <p:cNvPr id="3" name="Google-Shape-534-p58-4">
            <a:extLst xmlns:a="http://schemas.openxmlformats.org/drawingml/2006/main">
              <a:ext uri="{FF2B5EF4-FFF2-40B4-BE49-F238E27FC236}">
                <a16:creationId xmlns:a16="http://schemas.microsoft.com/office/drawing/2014/main" id="{5AA831C2-A19A-4F1F-A2E8-170F4F01A3B5}"/>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Ý TƯỞNG VÀ VỊ TRÍ ÁP DỤNG</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Paper nguồn dùng CLIP text để chiếu feature từ lớp cũ sang ngữ nghĩa lớp mới.</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Ta thử semantic projection cho replay và semantic gate/adapter cho CTIRD.</a:t>
            </a:r>
          </a:p>
        </p:txBody>
      </p:sp>
      <p:sp>
        <p:nvSpPr>
          <p:cNvPr id="4" name="Content-Placeholder-3-5">
            <a:extLst xmlns:a="http://schemas.openxmlformats.org/drawingml/2006/main">
              <a:ext uri="{FF2B5EF4-FFF2-40B4-BE49-F238E27FC236}">
                <a16:creationId xmlns:a16="http://schemas.microsoft.com/office/drawing/2014/main" id="{36773D4B-BAA6-4DC0-8192-8C847537363A}"/>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KẾT QUẢ VÀ QUYẾT ĐỊNH</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Một số cấu hình giảm loss hoặc forgetting, nhưng Acc@1 không tăng ổn định.</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buNone/>
              <a:defRPr sz="2400">
                <a:solidFill>
                  <a:srgbClr val="000000"/>
                </a:solidFill>
                <a:latin typeface="Helvetica Neue"/>
                <a:ea typeface="Helvetica Neue"/>
                <a:cs typeface="Helvetica Neue"/>
              </a:defRPr>
            </a:pPr>
            <a:r>
              <a:t>Nguyên nhân chính: text semantic và HRM visual feature chưa được căn chỉnh đủ tốt. Bản cuối tắt semantic.</a:t>
            </a:r>
          </a:p>
        </p:txBody>
      </p:sp>
    </p:spTree>
    <p:extLst>
      <p:ext uri="{BB962C8B-B14F-4D97-AF65-F5344CB8AC3E}">
        <p14:creationId xmlns:p14="http://schemas.microsoft.com/office/powerpoint/2010/main" val="1672457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9-title">
            <a:extLst xmlns:a="http://schemas.openxmlformats.org/drawingml/2006/main">
              <a:ext uri="{FF2B5EF4-FFF2-40B4-BE49-F238E27FC236}">
                <a16:creationId xmlns:a16="http://schemas.microsoft.com/office/drawing/2014/main" id="{67CFBB65-DC53-4173-B6BD-9C17B32140EB}"/>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Mỗi thay đổi đóng góp từng phần vào Acc@1</a:t>
            </a:r>
          </a:p>
        </p:txBody>
      </p:sp>
      <p:sp>
        <p:nvSpPr>
          <p:cNvPr id="2" name="slide-9-footer">
            <a:extLst xmlns:a="http://schemas.openxmlformats.org/drawingml/2006/main">
              <a:ext uri="{FF2B5EF4-FFF2-40B4-BE49-F238E27FC236}">
                <a16:creationId xmlns:a16="http://schemas.microsoft.com/office/drawing/2014/main" id="{CC4F8B95-2504-42E4-BAE5-CC834C9360D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11</a:t>
            </a:r>
          </a:p>
        </p:txBody>
      </p:sp>
      <p:sp>
        <p:nvSpPr>
          <p:cNvPr id="3" name="table-header-0">
            <a:extLst xmlns:a="http://schemas.openxmlformats.org/drawingml/2006/main">
              <a:ext uri="{FF2B5EF4-FFF2-40B4-BE49-F238E27FC236}">
                <a16:creationId xmlns:a16="http://schemas.microsoft.com/office/drawing/2014/main" id="{A31C20F9-A20D-4629-9937-19FE84716D43}"/>
              </a:ext>
            </a:extLst>
          </p:cNvPr>
          <p:cNvSpPr>
            <a:spLocks xmlns:a="http://schemas.openxmlformats.org/drawingml/2006/main" noGrp="1"/>
          </p:cNvSpPr>
          <p:nvPr/>
        </p:nvSpPr>
        <p:spPr>
          <a:xfrm xmlns:a="http://schemas.openxmlformats.org/drawingml/2006/main">
            <a:off x="400050" y="1381125"/>
            <a:ext cx="276225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Giai đoạn</a:t>
            </a:r>
          </a:p>
        </p:txBody>
      </p:sp>
      <p:sp>
        <p:nvSpPr>
          <p:cNvPr id="4" name="table-header-1">
            <a:extLst xmlns:a="http://schemas.openxmlformats.org/drawingml/2006/main">
              <a:ext uri="{FF2B5EF4-FFF2-40B4-BE49-F238E27FC236}">
                <a16:creationId xmlns:a16="http://schemas.microsoft.com/office/drawing/2014/main" id="{938D77E2-8064-4296-B1D2-1D51E4670DB4}"/>
              </a:ext>
            </a:extLst>
          </p:cNvPr>
          <p:cNvSpPr>
            <a:spLocks xmlns:a="http://schemas.openxmlformats.org/drawingml/2006/main" noGrp="1"/>
          </p:cNvSpPr>
          <p:nvPr/>
        </p:nvSpPr>
        <p:spPr>
          <a:xfrm xmlns:a="http://schemas.openxmlformats.org/drawingml/2006/main">
            <a:off x="3286125" y="1381125"/>
            <a:ext cx="5286375"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Phần được thay đổi</a:t>
            </a:r>
          </a:p>
        </p:txBody>
      </p:sp>
      <p:sp>
        <p:nvSpPr>
          <p:cNvPr id="5" name="table-header-2">
            <a:extLst xmlns:a="http://schemas.openxmlformats.org/drawingml/2006/main">
              <a:ext uri="{FF2B5EF4-FFF2-40B4-BE49-F238E27FC236}">
                <a16:creationId xmlns:a16="http://schemas.microsoft.com/office/drawing/2014/main" id="{E80E000D-BB27-439D-B48C-27DB14D83FF8}"/>
              </a:ext>
            </a:extLst>
          </p:cNvPr>
          <p:cNvSpPr>
            <a:spLocks xmlns:a="http://schemas.openxmlformats.org/drawingml/2006/main" noGrp="1"/>
          </p:cNvSpPr>
          <p:nvPr/>
        </p:nvSpPr>
        <p:spPr>
          <a:xfrm xmlns:a="http://schemas.openxmlformats.org/drawingml/2006/main">
            <a:off x="8715375" y="1381125"/>
            <a:ext cx="156210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Acc@1</a:t>
            </a:r>
          </a:p>
        </p:txBody>
      </p:sp>
      <p:sp>
        <p:nvSpPr>
          <p:cNvPr id="6" name="table-header-3">
            <a:extLst xmlns:a="http://schemas.openxmlformats.org/drawingml/2006/main">
              <a:ext uri="{FF2B5EF4-FFF2-40B4-BE49-F238E27FC236}">
                <a16:creationId xmlns:a16="http://schemas.microsoft.com/office/drawing/2014/main" id="{4133A358-BB2C-4FF4-9900-4207E44736F9}"/>
              </a:ext>
            </a:extLst>
          </p:cNvPr>
          <p:cNvSpPr>
            <a:spLocks xmlns:a="http://schemas.openxmlformats.org/drawingml/2006/main" noGrp="1"/>
          </p:cNvSpPr>
          <p:nvPr/>
        </p:nvSpPr>
        <p:spPr>
          <a:xfrm xmlns:a="http://schemas.openxmlformats.org/drawingml/2006/main">
            <a:off x="10401300" y="1381125"/>
            <a:ext cx="1390650" cy="5143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So với trước</a:t>
            </a:r>
          </a:p>
        </p:txBody>
      </p:sp>
      <p:sp>
        <p:nvSpPr>
          <p:cNvPr id="7" name="table-0-0">
            <a:extLst xmlns:a="http://schemas.openxmlformats.org/drawingml/2006/main">
              <a:ext uri="{FF2B5EF4-FFF2-40B4-BE49-F238E27FC236}">
                <a16:creationId xmlns:a16="http://schemas.microsoft.com/office/drawing/2014/main" id="{9A88B75F-C1EF-4F74-8526-5A2F386BB32B}"/>
              </a:ext>
            </a:extLst>
          </p:cNvPr>
          <p:cNvSpPr>
            <a:spLocks xmlns:a="http://schemas.openxmlformats.org/drawingml/2006/main" noGrp="1"/>
          </p:cNvSpPr>
          <p:nvPr/>
        </p:nvSpPr>
        <p:spPr>
          <a:xfrm xmlns:a="http://schemas.openxmlformats.org/drawingml/2006/main">
            <a:off x="400050" y="19526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HRM-PET gốc (Kaggle)</a:t>
            </a:r>
          </a:p>
        </p:txBody>
      </p:sp>
      <p:sp>
        <p:nvSpPr>
          <p:cNvPr id="8" name="table-0-1">
            <a:extLst xmlns:a="http://schemas.openxmlformats.org/drawingml/2006/main">
              <a:ext uri="{FF2B5EF4-FFF2-40B4-BE49-F238E27FC236}">
                <a16:creationId xmlns:a16="http://schemas.microsoft.com/office/drawing/2014/main" id="{F5D74162-0AF8-4D32-90EB-4831AD4CA5DC}"/>
              </a:ext>
            </a:extLst>
          </p:cNvPr>
          <p:cNvSpPr>
            <a:spLocks xmlns:a="http://schemas.openxmlformats.org/drawingml/2006/main" noGrp="1"/>
          </p:cNvSpPr>
          <p:nvPr/>
        </p:nvSpPr>
        <p:spPr>
          <a:xfrm xmlns:a="http://schemas.openxmlformats.org/drawingml/2006/main">
            <a:off x="3286125" y="19526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Gaussian replay + CTIRD baseline</a:t>
            </a:r>
          </a:p>
        </p:txBody>
      </p:sp>
      <p:sp>
        <p:nvSpPr>
          <p:cNvPr id="9" name="table-0-2">
            <a:extLst xmlns:a="http://schemas.openxmlformats.org/drawingml/2006/main">
              <a:ext uri="{FF2B5EF4-FFF2-40B4-BE49-F238E27FC236}">
                <a16:creationId xmlns:a16="http://schemas.microsoft.com/office/drawing/2014/main" id="{978912BA-C253-4663-960E-ED40F8B85882}"/>
              </a:ext>
            </a:extLst>
          </p:cNvPr>
          <p:cNvSpPr>
            <a:spLocks xmlns:a="http://schemas.openxmlformats.org/drawingml/2006/main" noGrp="1"/>
          </p:cNvSpPr>
          <p:nvPr/>
        </p:nvSpPr>
        <p:spPr>
          <a:xfrm xmlns:a="http://schemas.openxmlformats.org/drawingml/2006/main">
            <a:off x="8715375" y="19526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86.90</a:t>
            </a:r>
          </a:p>
        </p:txBody>
      </p:sp>
      <p:sp>
        <p:nvSpPr>
          <p:cNvPr id="10" name="table-0-3">
            <a:extLst xmlns:a="http://schemas.openxmlformats.org/drawingml/2006/main">
              <a:ext uri="{FF2B5EF4-FFF2-40B4-BE49-F238E27FC236}">
                <a16:creationId xmlns:a16="http://schemas.microsoft.com/office/drawing/2014/main" id="{62A87D94-F30D-489B-8B28-4B572C884934}"/>
              </a:ext>
            </a:extLst>
          </p:cNvPr>
          <p:cNvSpPr>
            <a:spLocks xmlns:a="http://schemas.openxmlformats.org/drawingml/2006/main" noGrp="1"/>
          </p:cNvSpPr>
          <p:nvPr/>
        </p:nvSpPr>
        <p:spPr>
          <a:xfrm xmlns:a="http://schemas.openxmlformats.org/drawingml/2006/main">
            <a:off x="10401300" y="19526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0">
                <a:solidFill>
                  <a:srgbClr val="000000"/>
                </a:solidFill>
                <a:latin typeface="Arial"/>
                <a:ea typeface="Arial"/>
                <a:cs typeface="Arial"/>
              </a:defRPr>
            </a:pPr>
            <a:r>
              <a:rPr sz="1500" b="0">
                <a:solidFill>
                  <a:srgbClr val="000000"/>
                </a:solidFill>
                <a:latin typeface="Arial"/>
                <a:ea typeface="Arial"/>
                <a:cs typeface="Arial"/>
              </a:rPr>
              <a:t>tham chiếu</a:t>
            </a:r>
          </a:p>
        </p:txBody>
      </p:sp>
      <p:sp>
        <p:nvSpPr>
          <p:cNvPr id="11" name="table-1-0">
            <a:extLst xmlns:a="http://schemas.openxmlformats.org/drawingml/2006/main">
              <a:ext uri="{FF2B5EF4-FFF2-40B4-BE49-F238E27FC236}">
                <a16:creationId xmlns:a16="http://schemas.microsoft.com/office/drawing/2014/main" id="{50A372CF-0576-49D4-8E7F-EB66482765F0}"/>
              </a:ext>
            </a:extLst>
          </p:cNvPr>
          <p:cNvSpPr>
            <a:spLocks xmlns:a="http://schemas.openxmlformats.org/drawingml/2006/main" noGrp="1"/>
          </p:cNvSpPr>
          <p:nvPr/>
        </p:nvSpPr>
        <p:spPr>
          <a:xfrm xmlns:a="http://schemas.openxmlformats.org/drawingml/2006/main">
            <a:off x="400050" y="2600325"/>
            <a:ext cx="2762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CFS-only (4090)</a:t>
            </a:r>
          </a:p>
        </p:txBody>
      </p:sp>
      <p:sp>
        <p:nvSpPr>
          <p:cNvPr id="12" name="table-1-1">
            <a:extLst xmlns:a="http://schemas.openxmlformats.org/drawingml/2006/main">
              <a:ext uri="{FF2B5EF4-FFF2-40B4-BE49-F238E27FC236}">
                <a16:creationId xmlns:a16="http://schemas.microsoft.com/office/drawing/2014/main" id="{7E577567-6E26-444E-B57D-665A3BAC8EB7}"/>
              </a:ext>
            </a:extLst>
          </p:cNvPr>
          <p:cNvSpPr>
            <a:spLocks xmlns:a="http://schemas.openxmlformats.org/drawingml/2006/main" noGrp="1"/>
          </p:cNvSpPr>
          <p:nvPr/>
        </p:nvSpPr>
        <p:spPr>
          <a:xfrm xmlns:a="http://schemas.openxmlformats.org/drawingml/2006/main">
            <a:off x="3286125" y="2600325"/>
            <a:ext cx="5286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Replay đa dạng hơn, chạy lại cùng máy</a:t>
            </a:r>
          </a:p>
        </p:txBody>
      </p:sp>
      <p:sp>
        <p:nvSpPr>
          <p:cNvPr id="13" name="table-1-2">
            <a:extLst xmlns:a="http://schemas.openxmlformats.org/drawingml/2006/main">
              <a:ext uri="{FF2B5EF4-FFF2-40B4-BE49-F238E27FC236}">
                <a16:creationId xmlns:a16="http://schemas.microsoft.com/office/drawing/2014/main" id="{13B1A7F9-068D-45E1-A4D7-B4DF2C8DCC92}"/>
              </a:ext>
            </a:extLst>
          </p:cNvPr>
          <p:cNvSpPr>
            <a:spLocks xmlns:a="http://schemas.openxmlformats.org/drawingml/2006/main" noGrp="1"/>
          </p:cNvSpPr>
          <p:nvPr/>
        </p:nvSpPr>
        <p:spPr>
          <a:xfrm xmlns:a="http://schemas.openxmlformats.org/drawingml/2006/main">
            <a:off x="8715375" y="2600325"/>
            <a:ext cx="15621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87.88</a:t>
            </a:r>
          </a:p>
        </p:txBody>
      </p:sp>
      <p:sp>
        <p:nvSpPr>
          <p:cNvPr id="14" name="table-1-3">
            <a:extLst xmlns:a="http://schemas.openxmlformats.org/drawingml/2006/main">
              <a:ext uri="{FF2B5EF4-FFF2-40B4-BE49-F238E27FC236}">
                <a16:creationId xmlns:a16="http://schemas.microsoft.com/office/drawing/2014/main" id="{B900A107-E29E-4A8F-8ABA-072A162FA359}"/>
              </a:ext>
            </a:extLst>
          </p:cNvPr>
          <p:cNvSpPr>
            <a:spLocks xmlns:a="http://schemas.openxmlformats.org/drawingml/2006/main" noGrp="1"/>
          </p:cNvSpPr>
          <p:nvPr/>
        </p:nvSpPr>
        <p:spPr>
          <a:xfrm xmlns:a="http://schemas.openxmlformats.org/drawingml/2006/main">
            <a:off x="10401300" y="2600325"/>
            <a:ext cx="13906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96622"/>
          </a:bodyPr>
          <a:lstStyle xmlns:a="http://schemas.openxmlformats.org/drawingml/2006/main"/>
          <a:p xmlns:a="http://schemas.openxmlformats.org/drawingml/2006/main">
            <a:pPr algn="ctr">
              <a:buNone/>
              <a:defRPr sz="1500" b="0">
                <a:solidFill>
                  <a:srgbClr val="000000"/>
                </a:solidFill>
                <a:latin typeface="Arial"/>
                <a:ea typeface="Arial"/>
                <a:cs typeface="Arial"/>
              </a:defRPr>
            </a:pPr>
            <a:r>
              <a:rPr sz="1500" b="0">
                <a:solidFill>
                  <a:srgbClr val="000000"/>
                </a:solidFill>
                <a:latin typeface="Arial"/>
                <a:ea typeface="Arial"/>
                <a:cs typeface="Arial"/>
              </a:rPr>
              <a:t>mốc cùng máy</a:t>
            </a:r>
          </a:p>
        </p:txBody>
      </p:sp>
      <p:sp>
        <p:nvSpPr>
          <p:cNvPr id="15" name="table-2-0">
            <a:extLst xmlns:a="http://schemas.openxmlformats.org/drawingml/2006/main">
              <a:ext uri="{FF2B5EF4-FFF2-40B4-BE49-F238E27FC236}">
                <a16:creationId xmlns:a16="http://schemas.microsoft.com/office/drawing/2014/main" id="{F1661961-479B-4B7E-93E0-2A6E5B1E5023}"/>
              </a:ext>
            </a:extLst>
          </p:cNvPr>
          <p:cNvSpPr>
            <a:spLocks xmlns:a="http://schemas.openxmlformats.org/drawingml/2006/main" noGrp="1"/>
          </p:cNvSpPr>
          <p:nvPr/>
        </p:nvSpPr>
        <p:spPr>
          <a:xfrm xmlns:a="http://schemas.openxmlformats.org/drawingml/2006/main">
            <a:off x="400050" y="32480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 Full CRCT</a:t>
            </a:r>
          </a:p>
        </p:txBody>
      </p:sp>
      <p:sp>
        <p:nvSpPr>
          <p:cNvPr id="16" name="table-2-1">
            <a:extLst xmlns:a="http://schemas.openxmlformats.org/drawingml/2006/main">
              <a:ext uri="{FF2B5EF4-FFF2-40B4-BE49-F238E27FC236}">
                <a16:creationId xmlns:a16="http://schemas.microsoft.com/office/drawing/2014/main" id="{54F821A8-D845-4EF9-848C-9B5DA505E3BB}"/>
              </a:ext>
            </a:extLst>
          </p:cNvPr>
          <p:cNvSpPr>
            <a:spLocks xmlns:a="http://schemas.openxmlformats.org/drawingml/2006/main" noGrp="1"/>
          </p:cNvSpPr>
          <p:nvPr/>
        </p:nvSpPr>
        <p:spPr>
          <a:xfrm xmlns:a="http://schemas.openxmlformats.org/drawingml/2006/main">
            <a:off x="3286125" y="32480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Dùng toàn bộ replay đã sinh</a:t>
            </a:r>
          </a:p>
        </p:txBody>
      </p:sp>
      <p:sp>
        <p:nvSpPr>
          <p:cNvPr id="17" name="table-2-2">
            <a:extLst xmlns:a="http://schemas.openxmlformats.org/drawingml/2006/main">
              <a:ext uri="{FF2B5EF4-FFF2-40B4-BE49-F238E27FC236}">
                <a16:creationId xmlns:a16="http://schemas.microsoft.com/office/drawing/2014/main" id="{688CC944-C9CE-477F-AD50-86DCE90378C4}"/>
              </a:ext>
            </a:extLst>
          </p:cNvPr>
          <p:cNvSpPr>
            <a:spLocks xmlns:a="http://schemas.openxmlformats.org/drawingml/2006/main" noGrp="1"/>
          </p:cNvSpPr>
          <p:nvPr/>
        </p:nvSpPr>
        <p:spPr>
          <a:xfrm xmlns:a="http://schemas.openxmlformats.org/drawingml/2006/main">
            <a:off x="8715375" y="32480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88.13</a:t>
            </a:r>
          </a:p>
        </p:txBody>
      </p:sp>
      <p:sp>
        <p:nvSpPr>
          <p:cNvPr id="18" name="table-2-3">
            <a:extLst xmlns:a="http://schemas.openxmlformats.org/drawingml/2006/main">
              <a:ext uri="{FF2B5EF4-FFF2-40B4-BE49-F238E27FC236}">
                <a16:creationId xmlns:a16="http://schemas.microsoft.com/office/drawing/2014/main" id="{A25B7CB6-5DAF-4963-A366-588BC6B3BF58}"/>
              </a:ext>
            </a:extLst>
          </p:cNvPr>
          <p:cNvSpPr>
            <a:spLocks xmlns:a="http://schemas.openxmlformats.org/drawingml/2006/main" noGrp="1"/>
          </p:cNvSpPr>
          <p:nvPr/>
        </p:nvSpPr>
        <p:spPr>
          <a:xfrm xmlns:a="http://schemas.openxmlformats.org/drawingml/2006/main">
            <a:off x="10401300" y="32480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0">
                <a:solidFill>
                  <a:srgbClr val="000000"/>
                </a:solidFill>
                <a:latin typeface="Arial"/>
                <a:ea typeface="Arial"/>
                <a:cs typeface="Arial"/>
              </a:defRPr>
            </a:pPr>
            <a:r>
              <a:rPr sz="1500" b="0">
                <a:solidFill>
                  <a:srgbClr val="000000"/>
                </a:solidFill>
                <a:latin typeface="Arial"/>
                <a:ea typeface="Arial"/>
                <a:cs typeface="Arial"/>
              </a:rPr>
              <a:t>+0.25</a:t>
            </a:r>
          </a:p>
        </p:txBody>
      </p:sp>
      <p:sp>
        <p:nvSpPr>
          <p:cNvPr id="19" name="table-3-0">
            <a:extLst xmlns:a="http://schemas.openxmlformats.org/drawingml/2006/main">
              <a:ext uri="{FF2B5EF4-FFF2-40B4-BE49-F238E27FC236}">
                <a16:creationId xmlns:a16="http://schemas.microsoft.com/office/drawing/2014/main" id="{35AC2E6A-0F53-4512-A5CE-80212CF87D17}"/>
              </a:ext>
            </a:extLst>
          </p:cNvPr>
          <p:cNvSpPr>
            <a:spLocks xmlns:a="http://schemas.openxmlformats.org/drawingml/2006/main" noGrp="1"/>
          </p:cNvSpPr>
          <p:nvPr/>
        </p:nvSpPr>
        <p:spPr>
          <a:xfrm xmlns:a="http://schemas.openxmlformats.org/drawingml/2006/main">
            <a:off x="400050" y="3895725"/>
            <a:ext cx="2762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 Task energy</a:t>
            </a:r>
          </a:p>
        </p:txBody>
      </p:sp>
      <p:sp>
        <p:nvSpPr>
          <p:cNvPr id="20" name="table-3-1">
            <a:extLst xmlns:a="http://schemas.openxmlformats.org/drawingml/2006/main">
              <a:ext uri="{FF2B5EF4-FFF2-40B4-BE49-F238E27FC236}">
                <a16:creationId xmlns:a16="http://schemas.microsoft.com/office/drawing/2014/main" id="{894DF522-5C94-4703-8451-62652375512C}"/>
              </a:ext>
            </a:extLst>
          </p:cNvPr>
          <p:cNvSpPr>
            <a:spLocks xmlns:a="http://schemas.openxmlformats.org/drawingml/2006/main" noGrp="1"/>
          </p:cNvSpPr>
          <p:nvPr/>
        </p:nvSpPr>
        <p:spPr>
          <a:xfrm xmlns:a="http://schemas.openxmlformats.org/drawingml/2006/main">
            <a:off x="3286125" y="3895725"/>
            <a:ext cx="5286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Boundary + chọn top-5 task liên quan</a:t>
            </a:r>
          </a:p>
        </p:txBody>
      </p:sp>
      <p:sp>
        <p:nvSpPr>
          <p:cNvPr id="21" name="table-3-2">
            <a:extLst xmlns:a="http://schemas.openxmlformats.org/drawingml/2006/main">
              <a:ext uri="{FF2B5EF4-FFF2-40B4-BE49-F238E27FC236}">
                <a16:creationId xmlns:a16="http://schemas.microsoft.com/office/drawing/2014/main" id="{E04FC281-5DA5-45D3-A453-13F893509BD8}"/>
              </a:ext>
            </a:extLst>
          </p:cNvPr>
          <p:cNvSpPr>
            <a:spLocks xmlns:a="http://schemas.openxmlformats.org/drawingml/2006/main" noGrp="1"/>
          </p:cNvSpPr>
          <p:nvPr/>
        </p:nvSpPr>
        <p:spPr>
          <a:xfrm xmlns:a="http://schemas.openxmlformats.org/drawingml/2006/main">
            <a:off x="8715375" y="3895725"/>
            <a:ext cx="15621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88.31</a:t>
            </a:r>
          </a:p>
        </p:txBody>
      </p:sp>
      <p:sp>
        <p:nvSpPr>
          <p:cNvPr id="22" name="table-3-3">
            <a:extLst xmlns:a="http://schemas.openxmlformats.org/drawingml/2006/main">
              <a:ext uri="{FF2B5EF4-FFF2-40B4-BE49-F238E27FC236}">
                <a16:creationId xmlns:a16="http://schemas.microsoft.com/office/drawing/2014/main" id="{909CC8CE-9C0F-4C53-9FA5-C6218E90CC27}"/>
              </a:ext>
            </a:extLst>
          </p:cNvPr>
          <p:cNvSpPr>
            <a:spLocks xmlns:a="http://schemas.openxmlformats.org/drawingml/2006/main" noGrp="1"/>
          </p:cNvSpPr>
          <p:nvPr/>
        </p:nvSpPr>
        <p:spPr>
          <a:xfrm xmlns:a="http://schemas.openxmlformats.org/drawingml/2006/main">
            <a:off x="10401300" y="3895725"/>
            <a:ext cx="13906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0">
                <a:solidFill>
                  <a:srgbClr val="000000"/>
                </a:solidFill>
                <a:latin typeface="Arial"/>
                <a:ea typeface="Arial"/>
                <a:cs typeface="Arial"/>
              </a:defRPr>
            </a:pPr>
            <a:r>
              <a:rPr sz="1500" b="0">
                <a:solidFill>
                  <a:srgbClr val="000000"/>
                </a:solidFill>
                <a:latin typeface="Arial"/>
                <a:ea typeface="Arial"/>
                <a:cs typeface="Arial"/>
              </a:rPr>
              <a:t>+0.18</a:t>
            </a:r>
          </a:p>
        </p:txBody>
      </p:sp>
      <p:sp>
        <p:nvSpPr>
          <p:cNvPr id="23" name="table-4-0">
            <a:extLst xmlns:a="http://schemas.openxmlformats.org/drawingml/2006/main">
              <a:ext uri="{FF2B5EF4-FFF2-40B4-BE49-F238E27FC236}">
                <a16:creationId xmlns:a16="http://schemas.microsoft.com/office/drawing/2014/main" id="{AA613387-7E63-4186-9177-45D19F05D1E8}"/>
              </a:ext>
            </a:extLst>
          </p:cNvPr>
          <p:cNvSpPr>
            <a:spLocks xmlns:a="http://schemas.openxmlformats.org/drawingml/2006/main" noGrp="1"/>
          </p:cNvSpPr>
          <p:nvPr/>
        </p:nvSpPr>
        <p:spPr>
          <a:xfrm xmlns:a="http://schemas.openxmlformats.org/drawingml/2006/main">
            <a:off x="400050" y="4543425"/>
            <a:ext cx="27622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 Energy weight</a:t>
            </a:r>
          </a:p>
        </p:txBody>
      </p:sp>
      <p:sp>
        <p:nvSpPr>
          <p:cNvPr id="24" name="table-4-1">
            <a:extLst xmlns:a="http://schemas.openxmlformats.org/drawingml/2006/main">
              <a:ext uri="{FF2B5EF4-FFF2-40B4-BE49-F238E27FC236}">
                <a16:creationId xmlns:a16="http://schemas.microsoft.com/office/drawing/2014/main" id="{0BFBAF85-5B25-407A-AECB-14101F303CFA}"/>
              </a:ext>
            </a:extLst>
          </p:cNvPr>
          <p:cNvSpPr>
            <a:spLocks xmlns:a="http://schemas.openxmlformats.org/drawingml/2006/main" noGrp="1"/>
          </p:cNvSpPr>
          <p:nvPr/>
        </p:nvSpPr>
        <p:spPr>
          <a:xfrm xmlns:a="http://schemas.openxmlformats.org/drawingml/2006/main">
            <a:off x="3286125" y="4543425"/>
            <a:ext cx="5286375"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0">
                <a:solidFill>
                  <a:srgbClr val="000000"/>
                </a:solidFill>
                <a:latin typeface="Arial"/>
                <a:ea typeface="Arial"/>
                <a:cs typeface="Arial"/>
              </a:defRPr>
            </a:pPr>
            <a:r>
              <a:rPr sz="1350" b="0">
                <a:solidFill>
                  <a:srgbClr val="000000"/>
                </a:solidFill>
                <a:latin typeface="Arial"/>
                <a:ea typeface="Arial"/>
                <a:cs typeface="Arial"/>
              </a:rPr>
              <a:t>Dồn trọng số vào source phù hợp</a:t>
            </a:r>
          </a:p>
        </p:txBody>
      </p:sp>
      <p:sp>
        <p:nvSpPr>
          <p:cNvPr id="25" name="table-4-2">
            <a:extLst xmlns:a="http://schemas.openxmlformats.org/drawingml/2006/main">
              <a:ext uri="{FF2B5EF4-FFF2-40B4-BE49-F238E27FC236}">
                <a16:creationId xmlns:a16="http://schemas.microsoft.com/office/drawing/2014/main" id="{9DCCA62A-7B48-4A69-9BB6-EF2BC1C981B5}"/>
              </a:ext>
            </a:extLst>
          </p:cNvPr>
          <p:cNvSpPr>
            <a:spLocks xmlns:a="http://schemas.openxmlformats.org/drawingml/2006/main" noGrp="1"/>
          </p:cNvSpPr>
          <p:nvPr/>
        </p:nvSpPr>
        <p:spPr>
          <a:xfrm xmlns:a="http://schemas.openxmlformats.org/drawingml/2006/main">
            <a:off x="8715375" y="4543425"/>
            <a:ext cx="156210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88.56</a:t>
            </a:r>
          </a:p>
        </p:txBody>
      </p:sp>
      <p:sp>
        <p:nvSpPr>
          <p:cNvPr id="26" name="table-4-3">
            <a:extLst xmlns:a="http://schemas.openxmlformats.org/drawingml/2006/main">
              <a:ext uri="{FF2B5EF4-FFF2-40B4-BE49-F238E27FC236}">
                <a16:creationId xmlns:a16="http://schemas.microsoft.com/office/drawing/2014/main" id="{23256A72-1F8C-4F28-BC3D-97D70CF0DB55}"/>
              </a:ext>
            </a:extLst>
          </p:cNvPr>
          <p:cNvSpPr>
            <a:spLocks xmlns:a="http://schemas.openxmlformats.org/drawingml/2006/main" noGrp="1"/>
          </p:cNvSpPr>
          <p:nvPr/>
        </p:nvSpPr>
        <p:spPr>
          <a:xfrm xmlns:a="http://schemas.openxmlformats.org/drawingml/2006/main">
            <a:off x="10401300" y="4543425"/>
            <a:ext cx="1390650" cy="590550"/>
          </a:xfrm>
          <a:prstGeom xmlns:a="http://schemas.openxmlformats.org/drawingml/2006/main" prst="rect">
            <a:avLst/>
          </a:prstGeom>
          <a:solidFill xmlns:a="http://schemas.openxmlformats.org/drawingml/2006/main">
            <a:srgbClr val="F2F2F2"/>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0">
                <a:solidFill>
                  <a:srgbClr val="000000"/>
                </a:solidFill>
                <a:latin typeface="Arial"/>
                <a:ea typeface="Arial"/>
                <a:cs typeface="Arial"/>
              </a:defRPr>
            </a:pPr>
            <a:r>
              <a:rPr sz="1500" b="0">
                <a:solidFill>
                  <a:srgbClr val="000000"/>
                </a:solidFill>
                <a:latin typeface="Arial"/>
                <a:ea typeface="Arial"/>
                <a:cs typeface="Arial"/>
              </a:rPr>
              <a:t>+0.25</a:t>
            </a:r>
          </a:p>
        </p:txBody>
      </p:sp>
      <p:sp>
        <p:nvSpPr>
          <p:cNvPr id="27" name="table-5-0">
            <a:extLst xmlns:a="http://schemas.openxmlformats.org/drawingml/2006/main">
              <a:ext uri="{FF2B5EF4-FFF2-40B4-BE49-F238E27FC236}">
                <a16:creationId xmlns:a16="http://schemas.microsoft.com/office/drawing/2014/main" id="{5C0A0B3E-927C-4A47-8D41-CCD3E2AB3C72}"/>
              </a:ext>
            </a:extLst>
          </p:cNvPr>
          <p:cNvSpPr>
            <a:spLocks xmlns:a="http://schemas.openxmlformats.org/drawingml/2006/main" noGrp="1"/>
          </p:cNvSpPr>
          <p:nvPr/>
        </p:nvSpPr>
        <p:spPr>
          <a:xfrm xmlns:a="http://schemas.openxmlformats.org/drawingml/2006/main">
            <a:off x="400050" y="5191125"/>
            <a:ext cx="276225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000000"/>
                </a:solidFill>
                <a:latin typeface="Arial"/>
                <a:ea typeface="Arial"/>
                <a:cs typeface="Arial"/>
              </a:defRPr>
            </a:pPr>
            <a:r>
              <a:rPr sz="1350" b="1">
                <a:solidFill>
                  <a:srgbClr val="000000"/>
                </a:solidFill>
                <a:latin typeface="Arial"/>
                <a:ea typeface="Arial"/>
                <a:cs typeface="Arial"/>
              </a:rPr>
              <a:t>+ Tuning CRCT</a:t>
            </a:r>
          </a:p>
        </p:txBody>
      </p:sp>
      <p:sp>
        <p:nvSpPr>
          <p:cNvPr id="28" name="table-5-1">
            <a:extLst xmlns:a="http://schemas.openxmlformats.org/drawingml/2006/main">
              <a:ext uri="{FF2B5EF4-FFF2-40B4-BE49-F238E27FC236}">
                <a16:creationId xmlns:a16="http://schemas.microsoft.com/office/drawing/2014/main" id="{D7A64714-C837-4E87-94D4-3EA782185FDD}"/>
              </a:ext>
            </a:extLst>
          </p:cNvPr>
          <p:cNvSpPr>
            <a:spLocks xmlns:a="http://schemas.openxmlformats.org/drawingml/2006/main" noGrp="1"/>
          </p:cNvSpPr>
          <p:nvPr/>
        </p:nvSpPr>
        <p:spPr>
          <a:xfrm xmlns:a="http://schemas.openxmlformats.org/drawingml/2006/main">
            <a:off x="3286125" y="5191125"/>
            <a:ext cx="5286375"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buNone/>
              <a:defRPr sz="1350" b="1">
                <a:solidFill>
                  <a:srgbClr val="000000"/>
                </a:solidFill>
                <a:latin typeface="Arial"/>
                <a:ea typeface="Arial"/>
                <a:cs typeface="Arial"/>
              </a:defRPr>
            </a:pPr>
            <a:r>
              <a:rPr sz="1350" b="1">
                <a:solidFill>
                  <a:srgbClr val="000000"/>
                </a:solidFill>
                <a:latin typeface="Arial"/>
                <a:ea typeface="Arial"/>
                <a:cs typeface="Arial"/>
              </a:rPr>
              <a:t>ca_lr = 0.0045</a:t>
            </a:r>
          </a:p>
        </p:txBody>
      </p:sp>
      <p:sp>
        <p:nvSpPr>
          <p:cNvPr id="29" name="table-5-2">
            <a:extLst xmlns:a="http://schemas.openxmlformats.org/drawingml/2006/main">
              <a:ext uri="{FF2B5EF4-FFF2-40B4-BE49-F238E27FC236}">
                <a16:creationId xmlns:a16="http://schemas.microsoft.com/office/drawing/2014/main" id="{C2B920B7-7E04-47B9-9114-3C2CB22561DF}"/>
              </a:ext>
            </a:extLst>
          </p:cNvPr>
          <p:cNvSpPr>
            <a:spLocks xmlns:a="http://schemas.openxmlformats.org/drawingml/2006/main" noGrp="1"/>
          </p:cNvSpPr>
          <p:nvPr/>
        </p:nvSpPr>
        <p:spPr>
          <a:xfrm xmlns:a="http://schemas.openxmlformats.org/drawingml/2006/main">
            <a:off x="8715375" y="5191125"/>
            <a:ext cx="156210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88.60</a:t>
            </a:r>
          </a:p>
        </p:txBody>
      </p:sp>
      <p:sp>
        <p:nvSpPr>
          <p:cNvPr id="30" name="table-5-3">
            <a:extLst xmlns:a="http://schemas.openxmlformats.org/drawingml/2006/main">
              <a:ext uri="{FF2B5EF4-FFF2-40B4-BE49-F238E27FC236}">
                <a16:creationId xmlns:a16="http://schemas.microsoft.com/office/drawing/2014/main" id="{AD3C1103-6984-4196-8BEB-A5A56431EBAB}"/>
              </a:ext>
            </a:extLst>
          </p:cNvPr>
          <p:cNvSpPr>
            <a:spLocks xmlns:a="http://schemas.openxmlformats.org/drawingml/2006/main" noGrp="1"/>
          </p:cNvSpPr>
          <p:nvPr/>
        </p:nvSpPr>
        <p:spPr>
          <a:xfrm xmlns:a="http://schemas.openxmlformats.org/drawingml/2006/main">
            <a:off x="10401300" y="5191125"/>
            <a:ext cx="1390650" cy="590550"/>
          </a:xfrm>
          <a:prstGeom xmlns:a="http://schemas.openxmlformats.org/drawingml/2006/main" prst="rect">
            <a:avLst/>
          </a:prstGeom>
          <a:solidFill xmlns:a="http://schemas.openxmlformats.org/drawingml/2006/main">
            <a:srgbClr val="D0EDFA"/>
          </a:solidFill>
          <a:ln xmlns:a="http://schemas.openxmlformats.org/drawingml/2006/main" w="9525">
            <a:solidFill>
              <a:srgbClr val="FFFFFF"/>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500" b="1">
                <a:solidFill>
                  <a:srgbClr val="000000"/>
                </a:solidFill>
                <a:latin typeface="Arial"/>
                <a:ea typeface="Arial"/>
                <a:cs typeface="Arial"/>
              </a:defRPr>
            </a:pPr>
            <a:r>
              <a:rPr sz="1500" b="1">
                <a:solidFill>
                  <a:srgbClr val="000000"/>
                </a:solidFill>
                <a:latin typeface="Arial"/>
                <a:ea typeface="Arial"/>
                <a:cs typeface="Arial"/>
              </a:rPr>
              <a:t>+0.04</a:t>
            </a:r>
          </a:p>
        </p:txBody>
      </p:sp>
    </p:spTree>
    <p:extLst>
      <p:ext uri="{BB962C8B-B14F-4D97-AF65-F5344CB8AC3E}">
        <p14:creationId xmlns:p14="http://schemas.microsoft.com/office/powerpoint/2010/main" val="21335968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8-title">
            <a:extLst xmlns:a="http://schemas.openxmlformats.org/drawingml/2006/main">
              <a:ext uri="{FF2B5EF4-FFF2-40B4-BE49-F238E27FC236}">
                <a16:creationId xmlns:a16="http://schemas.microsoft.com/office/drawing/2014/main" id="{B821B35F-3969-4F99-B7D9-CC26ECA047A5}"/>
              </a:ext>
            </a:extLst>
          </p:cNvPr>
          <p:cNvSpPr>
            <a:spLocks xmlns:a="http://schemas.openxmlformats.org/drawingml/2006/main" noGrp="1"/>
          </p:cNvSpPr>
          <p:nvPr/>
        </p:nvSpPr>
        <p:spPr>
          <a:xfrm xmlns:a="http://schemas.openxmlformats.org/drawingml/2006/main">
            <a:off x="390525" y="342900"/>
            <a:ext cx="1141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925" b="0">
                <a:solidFill>
                  <a:srgbClr val="000000"/>
                </a:solidFill>
                <a:latin typeface="Arial"/>
                <a:ea typeface="Arial"/>
                <a:cs typeface="Arial"/>
              </a:defRPr>
            </a:pPr>
            <a:r>
              <a:rPr sz="2925" b="0">
                <a:solidFill>
                  <a:srgbClr val="000000"/>
                </a:solidFill>
                <a:latin typeface="Arial"/>
                <a:ea typeface="Arial"/>
                <a:cs typeface="Arial"/>
              </a:rPr>
              <a:t>Cấu hình cuối đạt Acc@1 88.60%</a:t>
            </a:r>
          </a:p>
        </p:txBody>
      </p:sp>
      <p:sp>
        <p:nvSpPr>
          <p:cNvPr id="2" name="slide-8-footer">
            <a:extLst xmlns:a="http://schemas.openxmlformats.org/drawingml/2006/main">
              <a:ext uri="{FF2B5EF4-FFF2-40B4-BE49-F238E27FC236}">
                <a16:creationId xmlns:a16="http://schemas.microsoft.com/office/drawing/2014/main" id="{BB679612-5AB9-481A-B1BB-409E6ACB7139}"/>
              </a:ext>
            </a:extLst>
          </p:cNvPr>
          <p:cNvSpPr>
            <a:spLocks xmlns:a="http://schemas.openxmlformats.org/drawingml/2006/main" noGrp="1"/>
          </p:cNvSpPr>
          <p:nvPr/>
        </p:nvSpPr>
        <p:spPr>
          <a:xfrm xmlns:a="http://schemas.openxmlformats.org/drawingml/2006/main">
            <a:off x="11277600" y="627697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000000"/>
                </a:solidFill>
                <a:latin typeface="Arial"/>
                <a:ea typeface="Arial"/>
                <a:cs typeface="Arial"/>
              </a:defRPr>
            </a:pPr>
            <a:r>
              <a:rPr sz="975">
                <a:solidFill>
                  <a:srgbClr val="000000"/>
                </a:solidFill>
                <a:latin typeface="Arial"/>
                <a:ea typeface="Arial"/>
                <a:cs typeface="Arial"/>
              </a:rPr>
              <a:t>12</a:t>
            </a:r>
          </a:p>
        </p:txBody>
      </p:sp>
      <p:graphicFrame>
        <p:nvGraphicFramePr>
          <p:cNvPr id="11" name="Chart"/>
          <p:cNvGraphicFramePr/>
          <p:nvPr/>
        </p:nvGraphicFramePr>
        <p:xfrm>
          <a:off xmlns:a="http://schemas.openxmlformats.org/drawingml/2006/main" x="400050" y="1381125"/>
          <a:ext xmlns:a="http://schemas.openxmlformats.org/drawingml/2006/main" cx="6048375" cy="4476750"/>
        </p:xfrm>
        <a:graphic xmlns:a="http://schemas.openxmlformats.org/drawingml/2006/main">
          <a:graphicData uri="http://schemas.openxmlformats.org/drawingml/2006/chart">
            <c:chart xmlns:r="http://schemas.openxmlformats.org/officeDocument/2006/relationships" xmlns:c="http://schemas.openxmlformats.org/drawingml/2006/chart" r:id="Rc443d4e00dbd48a5"/>
          </a:graphicData>
        </a:graphic>
      </p:graphicFrame>
      <p:sp>
        <p:nvSpPr>
          <p:cNvPr id="4" name="result-callout-1">
            <a:extLst xmlns:a="http://schemas.openxmlformats.org/drawingml/2006/main">
              <a:ext uri="{FF2B5EF4-FFF2-40B4-BE49-F238E27FC236}">
                <a16:creationId xmlns:a16="http://schemas.microsoft.com/office/drawing/2014/main" id="{A564AF7F-28F2-4202-A12C-705D2C16F93D}"/>
              </a:ext>
            </a:extLst>
          </p:cNvPr>
          <p:cNvSpPr>
            <a:spLocks xmlns:a="http://schemas.openxmlformats.org/drawingml/2006/main" noGrp="1"/>
          </p:cNvSpPr>
          <p:nvPr/>
        </p:nvSpPr>
        <p:spPr>
          <a:xfrm xmlns:a="http://schemas.openxmlformats.org/drawingml/2006/main">
            <a:off x="6953250" y="1381125"/>
            <a:ext cx="4476750" cy="1219200"/>
          </a:xfrm>
          <a:prstGeom xmlns:a="http://schemas.openxmlformats.org/drawingml/2006/main" prst="roundRect">
            <a:avLst>
              <a:gd name="adj" fmla="val 6250"/>
            </a:avLst>
          </a:prstGeom>
          <a:solidFill xmlns:a="http://schemas.openxmlformats.org/drawingml/2006/main">
            <a:srgbClr val="D0EDFA"/>
          </a:solidFill>
          <a:ln xmlns:a="http://schemas.openxmlformats.org/drawingml/2006/main" w="9525">
            <a:solidFill>
              <a:srgbClr val="3D8DFF"/>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buNone/>
              <a:defRPr sz="2250" b="1">
                <a:solidFill>
                  <a:srgbClr val="000000"/>
                </a:solidFill>
                <a:latin typeface="Arial"/>
                <a:ea typeface="Arial"/>
                <a:cs typeface="Arial"/>
              </a:defRPr>
            </a:pPr>
            <a:r>
              <a:rPr sz="2250" b="1">
                <a:solidFill>
                  <a:srgbClr val="000000"/>
                </a:solidFill>
                <a:latin typeface="Arial"/>
                <a:ea typeface="Arial"/>
                <a:cs typeface="Arial"/>
              </a:rPr>
              <a:t>+1.70</a:t>
            </a:r>
          </a:p>
          <a:p xmlns:a="http://schemas.openxmlformats.org/drawingml/2006/main">
            <a:pPr algn="l">
              <a:buNone/>
              <a:defRPr sz="2250" b="1">
                <a:solidFill>
                  <a:srgbClr val="000000"/>
                </a:solidFill>
                <a:latin typeface="Arial"/>
                <a:ea typeface="Arial"/>
                <a:cs typeface="Arial"/>
              </a:defRPr>
            </a:pPr>
            <a:r>
              <a:rPr sz="2250" b="1">
                <a:solidFill>
                  <a:srgbClr val="000000"/>
                </a:solidFill>
                <a:latin typeface="Arial"/>
                <a:ea typeface="Arial"/>
                <a:cs typeface="Arial"/>
              </a:rPr>
              <a:t>điểm vs log Kaggle</a:t>
            </a:r>
          </a:p>
        </p:txBody>
      </p:sp>
      <p:sp>
        <p:nvSpPr>
          <p:cNvPr id="5" name="result-callout-2">
            <a:extLst xmlns:a="http://schemas.openxmlformats.org/drawingml/2006/main">
              <a:ext uri="{FF2B5EF4-FFF2-40B4-BE49-F238E27FC236}">
                <a16:creationId xmlns:a16="http://schemas.microsoft.com/office/drawing/2014/main" id="{789C307C-B776-48EC-866A-3E8A698D5973}"/>
              </a:ext>
            </a:extLst>
          </p:cNvPr>
          <p:cNvSpPr>
            <a:spLocks xmlns:a="http://schemas.openxmlformats.org/drawingml/2006/main" noGrp="1"/>
          </p:cNvSpPr>
          <p:nvPr/>
        </p:nvSpPr>
        <p:spPr>
          <a:xfrm xmlns:a="http://schemas.openxmlformats.org/drawingml/2006/main">
            <a:off x="6953250" y="2886075"/>
            <a:ext cx="4476750" cy="1219200"/>
          </a:xfrm>
          <a:prstGeom xmlns:a="http://schemas.openxmlformats.org/drawingml/2006/main" prst="roundRect">
            <a:avLst>
              <a:gd name="adj" fmla="val 6250"/>
            </a:avLst>
          </a:prstGeom>
          <a:solidFill xmlns:a="http://schemas.openxmlformats.org/drawingml/2006/main">
            <a:srgbClr val="F2F2F2"/>
          </a:solidFill>
          <a:ln xmlns:a="http://schemas.openxmlformats.org/drawingml/2006/main" w="9525">
            <a:solidFill>
              <a:srgbClr val="F2F2F2"/>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buNone/>
              <a:defRPr sz="2250" b="0">
                <a:solidFill>
                  <a:srgbClr val="000000"/>
                </a:solidFill>
                <a:latin typeface="Arial"/>
                <a:ea typeface="Arial"/>
                <a:cs typeface="Arial"/>
              </a:defRPr>
            </a:pPr>
            <a:r>
              <a:rPr sz="2250" b="0">
                <a:solidFill>
                  <a:srgbClr val="000000"/>
                </a:solidFill>
                <a:latin typeface="Arial"/>
                <a:ea typeface="Arial"/>
                <a:cs typeface="Arial"/>
              </a:rPr>
              <a:t>+0.72</a:t>
            </a:r>
          </a:p>
          <a:p xmlns:a="http://schemas.openxmlformats.org/drawingml/2006/main">
            <a:pPr algn="l">
              <a:buNone/>
              <a:defRPr sz="2250" b="0">
                <a:solidFill>
                  <a:srgbClr val="000000"/>
                </a:solidFill>
                <a:latin typeface="Arial"/>
                <a:ea typeface="Arial"/>
                <a:cs typeface="Arial"/>
              </a:defRPr>
            </a:pPr>
            <a:r>
              <a:rPr sz="2250" b="0">
                <a:solidFill>
                  <a:srgbClr val="000000"/>
                </a:solidFill>
                <a:latin typeface="Arial"/>
                <a:ea typeface="Arial"/>
                <a:cs typeface="Arial"/>
              </a:rPr>
              <a:t>điểm so với CFS-only</a:t>
            </a:r>
          </a:p>
        </p:txBody>
      </p:sp>
      <p:sp>
        <p:nvSpPr>
          <p:cNvPr id="6" name="result-callout-3">
            <a:extLst xmlns:a="http://schemas.openxmlformats.org/drawingml/2006/main">
              <a:ext uri="{FF2B5EF4-FFF2-40B4-BE49-F238E27FC236}">
                <a16:creationId xmlns:a16="http://schemas.microsoft.com/office/drawing/2014/main" id="{82F45761-13B3-4614-998D-024430EBD42D}"/>
              </a:ext>
            </a:extLst>
          </p:cNvPr>
          <p:cNvSpPr>
            <a:spLocks xmlns:a="http://schemas.openxmlformats.org/drawingml/2006/main" noGrp="1"/>
          </p:cNvSpPr>
          <p:nvPr/>
        </p:nvSpPr>
        <p:spPr>
          <a:xfrm xmlns:a="http://schemas.openxmlformats.org/drawingml/2006/main">
            <a:off x="6953250" y="4391025"/>
            <a:ext cx="4476750" cy="1219200"/>
          </a:xfrm>
          <a:prstGeom xmlns:a="http://schemas.openxmlformats.org/drawingml/2006/main" prst="roundRect">
            <a:avLst>
              <a:gd name="adj" fmla="val 6250"/>
            </a:avLst>
          </a:prstGeom>
          <a:solidFill xmlns:a="http://schemas.openxmlformats.org/drawingml/2006/main">
            <a:srgbClr val="F2F2F2"/>
          </a:solidFill>
          <a:ln xmlns:a="http://schemas.openxmlformats.org/drawingml/2006/main" w="9525">
            <a:solidFill>
              <a:srgbClr val="F2F2F2"/>
            </a:solidFill>
            <a:prstDash val="solid"/>
          </a:ln>
        </p:spPr>
        <p:txBody>
          <a:bodyPr xmlns:a="http://schemas.openxmlformats.org/drawingml/2006/main" lIns="266700" tIns="171450" rIns="228600" bIns="171450" anchor="ctr">
            <a:normAutofit fontScale="100000"/>
          </a:bodyPr>
          <a:lstStyle xmlns:a="http://schemas.openxmlformats.org/drawingml/2006/main"/>
          <a:p xmlns:a="http://schemas.openxmlformats.org/drawingml/2006/main">
            <a:pPr algn="l">
              <a:buNone/>
              <a:defRPr sz="2250" b="0">
                <a:solidFill>
                  <a:srgbClr val="000000"/>
                </a:solidFill>
                <a:latin typeface="Arial"/>
                <a:ea typeface="Arial"/>
                <a:cs typeface="Arial"/>
              </a:defRPr>
            </a:pPr>
            <a:r>
              <a:rPr sz="2250" b="0">
                <a:solidFill>
                  <a:srgbClr val="000000"/>
                </a:solidFill>
                <a:latin typeface="Arial"/>
                <a:ea typeface="Arial"/>
                <a:cs typeface="Arial"/>
              </a:rPr>
              <a:t>−11.8%</a:t>
            </a:r>
          </a:p>
          <a:p xmlns:a="http://schemas.openxmlformats.org/drawingml/2006/main">
            <a:pPr algn="l">
              <a:buNone/>
              <a:defRPr sz="2250" b="0">
                <a:solidFill>
                  <a:srgbClr val="000000"/>
                </a:solidFill>
                <a:latin typeface="Arial"/>
                <a:ea typeface="Arial"/>
                <a:cs typeface="Arial"/>
              </a:defRPr>
            </a:pPr>
            <a:r>
              <a:rPr sz="2250" b="0">
                <a:solidFill>
                  <a:srgbClr val="000000"/>
                </a:solidFill>
                <a:latin typeface="Arial"/>
                <a:ea typeface="Arial"/>
                <a:cs typeface="Arial"/>
              </a:rPr>
              <a:t>loss so với CFS-only</a:t>
            </a:r>
          </a:p>
        </p:txBody>
      </p:sp>
    </p:spTree>
    <p:extLst>
      <p:ext uri="{BB962C8B-B14F-4D97-AF65-F5344CB8AC3E}">
        <p14:creationId xmlns:p14="http://schemas.microsoft.com/office/powerpoint/2010/main" val="53355491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7FC28682-EC73-477B-AD30-ED5BD7B7E73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89EEFD2C-4244-4772-BD0D-009ACF307E60}"/>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AFC7C1FD-F345-4B57-AC93-25C3F0D8164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E557D669-9BDD-4858-BA8C-C758B4B0753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5" name="Title-2-5">
            <a:extLst xmlns:a="http://schemas.openxmlformats.org/drawingml/2006/main">
              <a:ext uri="{FF2B5EF4-FFF2-40B4-BE49-F238E27FC236}">
                <a16:creationId xmlns:a16="http://schemas.microsoft.com/office/drawing/2014/main" id="{4671C84E-1F52-4E68-81C9-EA7A09F6881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Kết luận: cải thiện đúng replay và nguồn distillation</a:t>
            </a:r>
          </a:p>
        </p:txBody>
      </p:sp>
      <p:sp>
        <p:nvSpPr>
          <p:cNvPr id="6" name="Content-Placeholder-9-6">
            <a:extLst xmlns:a="http://schemas.openxmlformats.org/drawingml/2006/main">
              <a:ext uri="{FF2B5EF4-FFF2-40B4-BE49-F238E27FC236}">
                <a16:creationId xmlns:a16="http://schemas.microsoft.com/office/drawing/2014/main" id="{22620935-0720-4DD3-9DEC-BCF7D6E1F713}"/>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Acc@1 tốt nhất</a:t>
            </a:r>
          </a:p>
        </p:txBody>
      </p:sp>
      <p:sp>
        <p:nvSpPr>
          <p:cNvPr id="7" name="Content-Placeholder-10-7">
            <a:extLst xmlns:a="http://schemas.openxmlformats.org/drawingml/2006/main">
              <a:ext uri="{FF2B5EF4-FFF2-40B4-BE49-F238E27FC236}">
                <a16:creationId xmlns:a16="http://schemas.microsoft.com/office/drawing/2014/main" id="{6F694C21-3D66-48D2-BA3F-18E42399444C}"/>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cần chạy thêm để xác nhận</a:t>
            </a:r>
          </a:p>
        </p:txBody>
      </p:sp>
      <p:sp>
        <p:nvSpPr>
          <p:cNvPr id="8" name="Content-Placeholder-11-8">
            <a:extLst xmlns:a="http://schemas.openxmlformats.org/drawingml/2006/main">
              <a:ext uri="{FF2B5EF4-FFF2-40B4-BE49-F238E27FC236}">
                <a16:creationId xmlns:a16="http://schemas.microsoft.com/office/drawing/2014/main" id="{99E879C9-3B34-409A-A24F-E9BEC3517F4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so với CFS-only cùng máy</a:t>
            </a:r>
          </a:p>
        </p:txBody>
      </p:sp>
      <p:sp>
        <p:nvSpPr>
          <p:cNvPr id="9" name="Content-Placeholder-9-9">
            <a:extLst xmlns:a="http://schemas.openxmlformats.org/drawingml/2006/main">
              <a:ext uri="{FF2B5EF4-FFF2-40B4-BE49-F238E27FC236}">
                <a16:creationId xmlns:a16="http://schemas.microsoft.com/office/drawing/2014/main" id="{A0A0E8CA-830D-4593-B535-2F75CE6713C8}"/>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88.60</a:t>
            </a:r>
          </a:p>
        </p:txBody>
      </p:sp>
      <p:sp>
        <p:nvSpPr>
          <p:cNvPr id="10" name="Content-Placeholder-9-10">
            <a:extLst xmlns:a="http://schemas.openxmlformats.org/drawingml/2006/main">
              <a:ext uri="{FF2B5EF4-FFF2-40B4-BE49-F238E27FC236}">
                <a16:creationId xmlns:a16="http://schemas.microsoft.com/office/drawing/2014/main" id="{E4722F85-9149-4B35-9191-90FCAEFE7AF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+0.72</a:t>
            </a:r>
          </a:p>
        </p:txBody>
      </p:sp>
      <p:sp>
        <p:nvSpPr>
          <p:cNvPr id="11" name="Content-Placeholder-9-11">
            <a:extLst xmlns:a="http://schemas.openxmlformats.org/drawingml/2006/main">
              <a:ext uri="{FF2B5EF4-FFF2-40B4-BE49-F238E27FC236}">
                <a16:creationId xmlns:a16="http://schemas.microsoft.com/office/drawing/2014/main" id="{F953A383-DEA3-458B-AD1F-4C7D4DA4923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 seed</a:t>
            </a:r>
          </a:p>
        </p:txBody>
      </p:sp>
      <p:sp>
        <p:nvSpPr>
          <p:cNvPr id="12" name="Content-Placeholder-15-12">
            <a:extLst xmlns:a="http://schemas.openxmlformats.org/drawingml/2006/main">
              <a:ext uri="{FF2B5EF4-FFF2-40B4-BE49-F238E27FC236}">
                <a16:creationId xmlns:a16="http://schemas.microsoft.com/office/drawing/2014/main" id="{B7CC7D5C-D462-4DC8-A9E7-7B5B635BFD09}"/>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Ba ý chính</a:t>
            </a:r>
          </a:p>
          <a:p xmlns:a="http://schemas.openxmlformats.org/drawingml/2006/main">
            <a:pPr algn="l">
              <a:buNone/>
              <a:defRPr sz="1600">
                <a:solidFill>
                  <a:srgbClr val="000000"/>
                </a:solidFill>
                <a:latin typeface="Helvetica Neue"/>
                <a:ea typeface="Helvetica Neue"/>
                <a:cs typeface="Helvetica Neue"/>
              </a:defRPr>
            </a:pPr>
            <a:r>
              <a:t/>
            </a:r>
          </a:p>
          <a:p xmlns:a="http://schemas.openxmlformats.org/drawingml/2006/main">
            <a:pPr algn="l">
              <a:buNone/>
              <a:defRPr sz="1600">
                <a:solidFill>
                  <a:srgbClr val="000000"/>
                </a:solidFill>
                <a:latin typeface="Helvetica Neue"/>
                <a:ea typeface="Helvetica Neue"/>
                <a:cs typeface="Helvetica Neue"/>
              </a:defRPr>
            </a:pPr>
            <a:r>
              <a:t>CFS + full/boundary replay làm dữ liệu nhớ lớp cũ đa dạng và được dùng hiệu quả hơn. Task energy giúp CTIRD học từ đúng LoRA cũ và phân bổ trọng số hợp lý. Semantic đã được kiểm chứng nhưng chưa đủ ổn định để đưa vào cấu hình cuối.</a:t>
            </a:r>
          </a:p>
        </p:txBody>
      </p:sp>
    </p:spTree>
    <p:extLst>
      <p:ext uri="{BB962C8B-B14F-4D97-AF65-F5344CB8AC3E}">
        <p14:creationId xmlns:p14="http://schemas.microsoft.com/office/powerpoint/2010/main" val="475628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2026-08-06T16:04:01.1200000Z</dcterms:created>
  <dcterms:modified xsi:type="dcterms:W3CDTF">2026-08-06T16:04:01.1200000Z</dcterms:modified>
</coreProperties>
</file>