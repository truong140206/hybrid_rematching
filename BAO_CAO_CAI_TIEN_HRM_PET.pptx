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bdc343ff1043f5" /><Relationship Type="http://schemas.openxmlformats.org/officeDocument/2006/relationships/extended-properties" Target="/docProps/app.xml" Id="Raba2babb02cd49c7" /><Relationship Type="http://schemas.openxmlformats.org/officeDocument/2006/relationships/officeDocument" Target="/ppt/presentation.xml" Id="Re5b9e43f23ef4803" /></Relationships>
</file>

<file path=ppt/presentation.xml><?xml version="1.0" encoding="utf-8"?>
<p:presentation xmlns:p="http://schemas.openxmlformats.org/presentationml/2006/main">
  <p:sldMasterIdLst>
    <p:sldMasterId xmlns:r="http://schemas.openxmlformats.org/officeDocument/2006/relationships" id="2147483648" r:id="R0e5484b2a57b4abc"/>
  </p:sldMasterIdLst>
  <p:notesMasterIdLst>
    <p:notesMasterId xmlns:r="http://schemas.openxmlformats.org/officeDocument/2006/relationships" r:id="Rb57c24db1875482f"/>
  </p:notesMasterIdLst>
  <p:sldIdLst>
    <p:sldId xmlns:r="http://schemas.openxmlformats.org/officeDocument/2006/relationships" id="256" r:id="Rea3e36c3bf044b8c"/>
    <p:sldId xmlns:r="http://schemas.openxmlformats.org/officeDocument/2006/relationships" id="257" r:id="Rd34d9c2c386c4cb1"/>
    <p:sldId xmlns:r="http://schemas.openxmlformats.org/officeDocument/2006/relationships" id="258" r:id="R75a222883cf8464e"/>
    <p:sldId xmlns:r="http://schemas.openxmlformats.org/officeDocument/2006/relationships" id="259" r:id="Rf8a98470063144a4"/>
    <p:sldId xmlns:r="http://schemas.openxmlformats.org/officeDocument/2006/relationships" id="260" r:id="R091c715f3ba648b2"/>
    <p:sldId xmlns:r="http://schemas.openxmlformats.org/officeDocument/2006/relationships" id="261" r:id="R6e4ae730eca84579"/>
    <p:sldId xmlns:r="http://schemas.openxmlformats.org/officeDocument/2006/relationships" id="262" r:id="Rb1a335bbff624082"/>
    <p:sldId xmlns:r="http://schemas.openxmlformats.org/officeDocument/2006/relationships" id="263" r:id="R8ada6d713c714cca"/>
    <p:sldId xmlns:r="http://schemas.openxmlformats.org/officeDocument/2006/relationships" id="264" r:id="R88feb95b2c9940f4"/>
    <p:sldId xmlns:r="http://schemas.openxmlformats.org/officeDocument/2006/relationships" id="265" r:id="R27c9b4f2d6924f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c163826a8f4969" /><Relationship Type="http://schemas.openxmlformats.org/officeDocument/2006/relationships/slideMaster" Target="/ppt/slideMasters/slideMaster1.xml" Id="R0e5484b2a57b4abc" /><Relationship Type="http://schemas.openxmlformats.org/officeDocument/2006/relationships/notesMaster" Target="/ppt/notesMasters/notesMaster1.xml" Id="Rb57c24db1875482f" /><Relationship Type="http://schemas.openxmlformats.org/officeDocument/2006/relationships/presProps" Target="/ppt/presProps.xml" Id="R33e78759b8214b40" /><Relationship Type="http://schemas.openxmlformats.org/officeDocument/2006/relationships/tableStyles" Target="/ppt/tableStyles.xml" Id="R534c0c9d66224a4b" /><Relationship Type="http://schemas.openxmlformats.org/officeDocument/2006/relationships/slide" Target="/ppt/slides/slide1.xml" Id="Rea3e36c3bf044b8c" /><Relationship Type="http://schemas.openxmlformats.org/officeDocument/2006/relationships/slide" Target="/ppt/slides/slide2.xml" Id="Rd34d9c2c386c4cb1" /><Relationship Type="http://schemas.openxmlformats.org/officeDocument/2006/relationships/slide" Target="/ppt/slides/slide3.xml" Id="R75a222883cf8464e" /><Relationship Type="http://schemas.openxmlformats.org/officeDocument/2006/relationships/slide" Target="/ppt/slides/slide4.xml" Id="Rf8a98470063144a4" /><Relationship Type="http://schemas.openxmlformats.org/officeDocument/2006/relationships/slide" Target="/ppt/slides/slide5.xml" Id="R091c715f3ba648b2" /><Relationship Type="http://schemas.openxmlformats.org/officeDocument/2006/relationships/slide" Target="/ppt/slides/slide6.xml" Id="R6e4ae730eca84579" /><Relationship Type="http://schemas.openxmlformats.org/officeDocument/2006/relationships/slide" Target="/ppt/slides/slide7.xml" Id="Rb1a335bbff624082" /><Relationship Type="http://schemas.openxmlformats.org/officeDocument/2006/relationships/slide" Target="/ppt/slides/slide8.xml" Id="R8ada6d713c714cca" /><Relationship Type="http://schemas.openxmlformats.org/officeDocument/2006/relationships/slide" Target="/ppt/slides/slide9.xml" Id="R88feb95b2c9940f4" /><Relationship Type="http://schemas.openxmlformats.org/officeDocument/2006/relationships/slide" Target="/ppt/slides/slide10.xml" Id="R27c9b4f2d6924f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966fca9c847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7a74b89c84440f" /><Relationship Type="http://schemas.openxmlformats.org/officeDocument/2006/relationships/notesMaster" Target="/ppt/notesMasters/notesMaster1.xml" Id="R5a8c2dfe4d6140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a9a8bcc76b4bd0" /><Relationship Type="http://schemas.openxmlformats.org/officeDocument/2006/relationships/notesMaster" Target="/ppt/notesMasters/notesMaster1.xml" Id="R7dfbf62a640d48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3dcde5b7334e08" /><Relationship Type="http://schemas.openxmlformats.org/officeDocument/2006/relationships/notesMaster" Target="/ppt/notesMasters/notesMaster1.xml" Id="R6ee447515f2b46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38f84142ab4b5c" /><Relationship Type="http://schemas.openxmlformats.org/officeDocument/2006/relationships/notesMaster" Target="/ppt/notesMasters/notesMaster1.xml" Id="R10ceb5c599ac45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6c90e75b0e4445" /><Relationship Type="http://schemas.openxmlformats.org/officeDocument/2006/relationships/notesMaster" Target="/ppt/notesMasters/notesMaster1.xml" Id="R246fa12ec9e345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43496498f840d4" /><Relationship Type="http://schemas.openxmlformats.org/officeDocument/2006/relationships/notesMaster" Target="/ppt/notesMasters/notesMaster1.xml" Id="Rdb3b3805cc9e4e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91946f739844d0" /><Relationship Type="http://schemas.openxmlformats.org/officeDocument/2006/relationships/notesMaster" Target="/ppt/notesMasters/notesMaster1.xml" Id="R0f22ae2cf1f74a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310a9226e44c2b" /><Relationship Type="http://schemas.openxmlformats.org/officeDocument/2006/relationships/notesMaster" Target="/ppt/notesMasters/notesMaster1.xml" Id="R21571fcf70b44b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825914be174fee" /><Relationship Type="http://schemas.openxmlformats.org/officeDocument/2006/relationships/notesMaster" Target="/ppt/notesMasters/notesMaster1.xml" Id="Rc1020173d85240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22e12765e449e0" /><Relationship Type="http://schemas.openxmlformats.org/officeDocument/2006/relationships/notesMaster" Target="/ppt/notesMasters/notesMaster1.xml" Id="R43a8cf3b3fa34b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ngắn: mục tiêu là cải thiện HRM-PET mà không thay backbone. Trọng tâm là chất lượng feature replay và cách CTIRD chọn task cũ để distill. Kết quả chính đạt Acc@1 88.60% trên Split-CIFAR100, seed 42.</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cho người chưa làm dự án: model học lần lượt 10 nhóm lớp. Sau mỗi task, classifier có thể thiên về lớp mới và quên lớp cũ. HRM-PET đã có feature replay và classifier correction; chúng ta không thay toàn bộ phương pháp mà tập trung sửa đúng các bước đang hạn chế hiệu quả.</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ba phát hiện dẫn dắt toàn bộ cải tiến. CFS giải quyết chất lượng replay. Full CRCT giải quyết lượng replay được sử dụng. Task-energy CTIRD giải quyết việc chọn sai nguồn distillation. Mỗi thay đổi sau đó đều được ablation riêng để biết chính xác phần nào có ích.</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CFS áp dụng ở cả TII và LoRA engine, đúng tại bước sinh feature cho CRCT. Với mỗi lớp, ta huấn luyện một MLP contrastive nhỏ, sinh nhiều Gaussian candidate rồi chọn các candidate ít giống nhau trong embedding CFS. Vì vậy replay đại diện và đa dạng hơn. Backbone ViT và quy trình inference không bị thay đổi.</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D:/Hybrid_ReMatching_code/Hybrid_ReMatching/utils.py</a:t>
            </a:r>
          </a:p>
          <a:p xmlns:a="http://schemas.openxmlformats.org/drawingml/2006/main">
            <a:r>
              <a:t>- D:/Hybrid_ReMatching_code/Hybrid_ReMatching/engines/hrm_lora_wtp_and_tap_engine.py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CFS giải quyết chất lượng, nhưng kiểm tra code còn phát hiện CRCT cũ không dùng hết replay. Bật full replay làm Acc@1 tăng 0.25 và loss giảm mạnh. Boundary-aware CFS chỉ thêm 25% mẫu khó gần biên để không làm mất tính đa dạng của CFS.</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CTIRD legacy chọn class có logit thấp rồi suy ra task, nên có thể lấy nguồn không liên quan hoặc nhiều class cùng trỏ về một task. Bản mới tính task energy, chọn năm task cũ liên quan nhất và gán trọng số cao hơn cho source phù hợp. Tổng trọng số vẫn bằng K, nên cải thiện đến từ phân bổ đúng chứ không phải tăng loss.</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D:/Hybrid_ReMatching_code/Hybrid_ReMatching/engines/hrm_lora_wtp_and_tap_engine.py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semantic không bị bỏ qua. Ta đã thử từ semantic top-k, adaptive gate đến CLIP projection, adapter và covariance transfer. Một số bản cải thiện nhẹ loss hoặc forgetting nhưng Acc@1 không vượt CFS-only ổn định. Vì vậy quyết định khoa học là giữ code để ablation nhưng tắt semantic trong cấu hình cuối.</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kết quả chính. HRM-PET gốc trong log ban đầu đạt Acc@1 86.90; cấu hình tốt nhất đạt 88.60, tăng 1.70 điểm phần trăm. Acc@task tăng 1.27 điểm và loss giảm khoảng 21.4%. Khi cần so sánh nghiêm ngặt cùng môi trường, so với CFS-only reproduce thì Acc@1 tăng 0.72 điểm.</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có một thay đổi duy nhất tạo toàn bộ mức tăng. CFS tạo nền replay tốt hơn. Full CRCT sử dụng đúng lượng replay. Task-energy và energy weighting sửa CTIRD. Cuối cùng ca_lr 0.0045 tinh chỉnh classifier correction. Bảng này giúp giải thích đóng góp cộng dồn theo thứ tự phát triển.</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kết quả bước đầu cho thấy nút thắt chính nằm ở replay và task-aware distillation, không phải cần thay backbone. Tuy nhiên cần nói rõ đây mới là seed 42 trên Split-CIFAR100. Forgetting vẫn cao hơn CFS-only, nên bước tiếp theo phải chạy nhiều seed, benchmark thứ hai và tối ưu trade-off giữa final accuracy với retention.</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2368b2a07a4f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38e2a327f048f8" /><Relationship Type="http://schemas.openxmlformats.org/officeDocument/2006/relationships/slideLayout" Target="/ppt/slideLayouts/slideLayout1.xml" Id="R9bd9603adad046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d9603adad046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8e76540a924a38" /><Relationship Type="http://schemas.openxmlformats.org/officeDocument/2006/relationships/notesSlide" Target="/ppt/notesSlides/notesSlide1.xml" Id="Re5c0459ead6e4c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7926f911b64664" /><Relationship Type="http://schemas.openxmlformats.org/officeDocument/2006/relationships/notesSlide" Target="/ppt/notesSlides/notesSlide2.xml" Id="R5877b6c06c0249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acaece86f746af" /><Relationship Type="http://schemas.openxmlformats.org/officeDocument/2006/relationships/notesSlide" Target="/ppt/notesSlides/notesSlide3.xml" Id="R93c10549248442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d419c5f1784c2f" /><Relationship Type="http://schemas.openxmlformats.org/officeDocument/2006/relationships/notesSlide" Target="/ppt/notesSlides/notesSlide4.xml" Id="R70c8e6bbb10d40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3c4686a7ee4466" /><Relationship Type="http://schemas.openxmlformats.org/officeDocument/2006/relationships/notesSlide" Target="/ppt/notesSlides/notesSlide5.xml" Id="R19565b23208544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1dc7ec7b1a4d4f" /><Relationship Type="http://schemas.openxmlformats.org/officeDocument/2006/relationships/notesSlide" Target="/ppt/notesSlides/notesSlide6.xml" Id="R84e37768055640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e4e4a2905145ee" /><Relationship Type="http://schemas.openxmlformats.org/officeDocument/2006/relationships/notesSlide" Target="/ppt/notesSlides/notesSlide7.xml" Id="R93fcf46c2e934d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9454fae3884c3e" /><Relationship Type="http://schemas.openxmlformats.org/officeDocument/2006/relationships/chart" Target="/ppt/slides/charts/chart1.xml" Id="R1be995a8795f43f0" /><Relationship Type="http://schemas.openxmlformats.org/officeDocument/2006/relationships/notesSlide" Target="/ppt/notesSlides/notesSlide8.xml" Id="Ra5dd6301329445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3917edeb164763" /><Relationship Type="http://schemas.openxmlformats.org/officeDocument/2006/relationships/notesSlide" Target="/ppt/notesSlides/notesSlide9.xml" Id="Ra54bd9dad23d46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b49a3b61454cc7" /><Relationship Type="http://schemas.openxmlformats.org/officeDocument/2006/relationships/notesSlide" Target="/ppt/notesSlides/notesSlide10.xml" Id="R5413a69ccba54b5e" /></Relationships>
</file>

<file path=ppt/slides/charts/chart1.xml><?xml version="1.0" encoding="utf-8"?>
<c:chartSpace xmlns:c="http://schemas.openxmlformats.org/drawingml/2006/chart">
  <c:lang val="en-US"/>
  <c:chart>
    <c:plotArea>
      <c:barChart>
        <c:barDir val="col"/>
        <c:grouping val="clustered"/>
        <c:varyColors val="0"/>
        <c:ser>
          <c:idx val="0"/>
          <c:order val="0"/>
          <c:tx>
            <c:v>HRM-PET gốc</c:v>
          </c:tx>
          <c:spPr>
            <a:solidFill xmlns:a="http://schemas.openxmlformats.org/drawingml/2006/main">
              <a:srgbClr val="B8BCC4"/>
            </a:solidFill>
          </c:spPr>
          <c:cat>
            <c:strLit>
              <c:ptCount val="3"/>
              <c:pt idx="0">
                <c:v>Acc@task</c:v>
              </c:pt>
              <c:pt idx="1">
                <c:v>Acc@1</c:v>
              </c:pt>
              <c:pt idx="2">
                <c:v>Acc@5</c:v>
              </c:pt>
            </c:strLit>
          </c:cat>
          <c:val>
            <c:numLit>
              <c:formatCode>General</c:formatCode>
              <c:ptCount val="3"/>
              <c:pt idx="0">
                <c:v>87.05</c:v>
              </c:pt>
              <c:pt idx="1">
                <c:v>86.9</c:v>
              </c:pt>
              <c:pt idx="2">
                <c:v>97.59</c:v>
              </c:pt>
            </c:numLit>
          </c:val>
        </c:ser>
        <c:ser>
          <c:idx val="1"/>
          <c:order val="1"/>
          <c:tx>
            <c:v>Tốt nhất hiện tại</c:v>
          </c:tx>
          <c:spPr>
            <a:solidFill xmlns:a="http://schemas.openxmlformats.org/drawingml/2006/main">
              <a:srgbClr val="3D8DFF"/>
            </a:solidFill>
          </c:spPr>
          <c:cat>
            <c:strLit>
              <c:ptCount val="3"/>
              <c:pt idx="0">
                <c:v>Acc@task</c:v>
              </c:pt>
              <c:pt idx="1">
                <c:v>Acc@1</c:v>
              </c:pt>
              <c:pt idx="2">
                <c:v>Acc@5</c:v>
              </c:pt>
            </c:strLit>
          </c:cat>
          <c:val>
            <c:numLit>
              <c:formatCode>General</c:formatCode>
              <c:ptCount val="3"/>
              <c:pt idx="0">
                <c:v>88.32</c:v>
              </c:pt>
              <c:pt idx="1">
                <c:v>88.6</c:v>
              </c:pt>
              <c:pt idx="2">
                <c:v>98.07</c:v>
              </c:pt>
            </c:numLit>
          </c:val>
        </c:ser>
        <c:dLbls>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Arial"/>
                <a:ea typeface="Arial"/>
                <a:cs typeface="Arial"/>
              </a:defRPr>
            </a:pPr>
          </a:p>
        </c:txPr>
        <c:crossAx val="48672768"/>
      </c:catAx>
      <c:valAx>
        <c:axId val="48672768"/>
        <c:scaling>
          <c:orientation val="minMax"/>
          <c:max val="100"/>
          <c:min val="85"/>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BF5ADCBF-7E38-4D55-A76C-87AE5000CC6C}"/>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CFS + task-aware CTIRD
cho học liên tục</a:t>
            </a:r>
          </a:p>
        </p:txBody>
      </p:sp>
      <p:sp>
        <p:nvSpPr>
          <p:cNvPr id="2" name="Subtitle-4-2">
            <a:extLst xmlns:a="http://schemas.openxmlformats.org/drawingml/2006/main">
              <a:ext uri="{FF2B5EF4-FFF2-40B4-BE49-F238E27FC236}">
                <a16:creationId xmlns:a16="http://schemas.microsoft.com/office/drawing/2014/main" id="{DC178446-0E49-4E36-8D70-FEAF425A6316}"/>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Split-CIFAR100 · 10 task · Acc@1 tốt nhất 88.60%</a:t>
            </a:r>
          </a:p>
        </p:txBody>
      </p:sp>
      <p:sp>
        <p:nvSpPr>
          <p:cNvPr id="3" name="Subtitle-4-3">
            <a:extLst xmlns:a="http://schemas.openxmlformats.org/drawingml/2006/main">
              <a:ext uri="{FF2B5EF4-FFF2-40B4-BE49-F238E27FC236}">
                <a16:creationId xmlns:a16="http://schemas.microsoft.com/office/drawing/2014/main" id="{E160E516-C6F9-46A9-A5C1-C3AA23952452}"/>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BÁO CÁO CẢI TIẾN HRM-PET</a:t>
            </a:r>
          </a:p>
        </p:txBody>
      </p:sp>
    </p:spTree>
    <p:extLst>
      <p:ext uri="{BB962C8B-B14F-4D97-AF65-F5344CB8AC3E}">
        <p14:creationId xmlns:p14="http://schemas.microsoft.com/office/powerpoint/2010/main" val="6814869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7BFD3DC3-3FAA-40CE-B597-8A60021F796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7EAF1412-2D4E-4C9A-A50E-743EDA38C4F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Bài toán: học lớp mới nhưng vẫn phải nhận ra lớp cũ</a:t>
            </a:r>
          </a:p>
        </p:txBody>
      </p:sp>
      <p:sp>
        <p:nvSpPr>
          <p:cNvPr id="3" name="Google-Shape-534-p58-4">
            <a:extLst xmlns:a="http://schemas.openxmlformats.org/drawingml/2006/main">
              <a:ext uri="{FF2B5EF4-FFF2-40B4-BE49-F238E27FC236}">
                <a16:creationId xmlns:a16="http://schemas.microsoft.com/office/drawing/2014/main" id="{8012F841-E733-47AF-B4D5-1A5730A6FDB1}"/>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HRM-PET gốc
</a:t>
            </a:r>
          </a:p>
          <a:p xmlns:a="http://schemas.openxmlformats.org/drawingml/2006/main">
            <a:pPr algn="l">
              <a:defRPr sz="2400">
                <a:solidFill>
                  <a:srgbClr val="000000"/>
                </a:solidFill>
                <a:latin typeface="Helvetica Neue"/>
                <a:ea typeface="Helvetica Neue"/>
                <a:cs typeface="Helvetica Neue"/>
              </a:defRPr>
            </a:pPr>
            <a:r>
              <a:t>Lưu thống kê feature theo lớp
Sinh feature Gaussian
Dùng CRCT để sửa classifier</a:t>
            </a:r>
          </a:p>
        </p:txBody>
      </p:sp>
      <p:sp>
        <p:nvSpPr>
          <p:cNvPr id="4" name="Content-Placeholder-3-5">
            <a:extLst xmlns:a="http://schemas.openxmlformats.org/drawingml/2006/main">
              <a:ext uri="{FF2B5EF4-FFF2-40B4-BE49-F238E27FC236}">
                <a16:creationId xmlns:a16="http://schemas.microsoft.com/office/drawing/2014/main" id="{0F9A2807-DD4C-4616-9646-4A519A8F3AD2}"/>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Mục tiêu cải tiến
</a:t>
            </a:r>
          </a:p>
          <a:p xmlns:a="http://schemas.openxmlformats.org/drawingml/2006/main">
            <a:pPr algn="l">
              <a:defRPr sz="2400">
                <a:solidFill>
                  <a:srgbClr val="000000"/>
                </a:solidFill>
                <a:latin typeface="Helvetica Neue"/>
                <a:ea typeface="Helvetica Neue"/>
                <a:cs typeface="Helvetica Neue"/>
              </a:defRPr>
            </a:pPr>
            <a:r>
              <a:t>Replay đa dạng và hữu ích hơn
Dùng hết replay đã sinh
Distill từ task cũ liên quan hơn</a:t>
            </a:r>
          </a:p>
        </p:txBody>
      </p:sp>
    </p:spTree>
    <p:extLst>
      <p:ext uri="{BB962C8B-B14F-4D97-AF65-F5344CB8AC3E}">
        <p14:creationId xmlns:p14="http://schemas.microsoft.com/office/powerpoint/2010/main" val="166427319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B46D6A81-5629-445E-922C-F5572C965E8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4CE8074F-73FB-4F57-9ACA-76C2AEDCDA7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Ba nút thắt được phát hiện trong pipeline ban đầu</a:t>
            </a:r>
          </a:p>
        </p:txBody>
      </p:sp>
      <p:sp>
        <p:nvSpPr>
          <p:cNvPr id="3" name="Google-Shape-534-p58-4">
            <a:extLst xmlns:a="http://schemas.openxmlformats.org/drawingml/2006/main">
              <a:ext uri="{FF2B5EF4-FFF2-40B4-BE49-F238E27FC236}">
                <a16:creationId xmlns:a16="http://schemas.microsoft.com/office/drawing/2014/main" id="{DBC45B0E-B337-4E4B-8C9E-72D27CC2F2E4}"/>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 · Replay chưa chọn lọc
</a:t>
            </a:r>
          </a:p>
          <a:p xmlns:a="http://schemas.openxmlformats.org/drawingml/2006/main">
            <a:pPr algn="l">
              <a:defRPr sz="2400">
                <a:solidFill>
                  <a:srgbClr val="000000"/>
                </a:solidFill>
                <a:latin typeface="Helvetica Neue"/>
                <a:ea typeface="Helvetica Neue"/>
                <a:cs typeface="Helvetica Neue"/>
              </a:defRPr>
            </a:pPr>
            <a:r>
              <a:t>Gaussian sample hợp lệ nhưng có thể trùng nhau và ít thông tin.</a:t>
            </a:r>
          </a:p>
        </p:txBody>
      </p:sp>
      <p:sp>
        <p:nvSpPr>
          <p:cNvPr id="4" name="Content-Placeholder-1-5">
            <a:extLst xmlns:a="http://schemas.openxmlformats.org/drawingml/2006/main">
              <a:ext uri="{FF2B5EF4-FFF2-40B4-BE49-F238E27FC236}">
                <a16:creationId xmlns:a16="http://schemas.microsoft.com/office/drawing/2014/main" id="{0729434F-3903-4D34-A7D3-84423698CD3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3 · CTIRD chọn nguồn nhiễu
</a:t>
            </a:r>
          </a:p>
          <a:p xmlns:a="http://schemas.openxmlformats.org/drawingml/2006/main">
            <a:pPr algn="l">
              <a:defRPr sz="2400">
                <a:solidFill>
                  <a:srgbClr val="000000"/>
                </a:solidFill>
                <a:latin typeface="Helvetica Neue"/>
                <a:ea typeface="Helvetica Neue"/>
                <a:cs typeface="Helvetica Neue"/>
              </a:defRPr>
            </a:pPr>
            <a:r>
              <a:t>Class logit thấp được đổi sang task, có thể sai hoặc trùng nguồn.</a:t>
            </a:r>
          </a:p>
        </p:txBody>
      </p:sp>
      <p:sp>
        <p:nvSpPr>
          <p:cNvPr id="5" name="Content-Placeholder-2-6">
            <a:extLst xmlns:a="http://schemas.openxmlformats.org/drawingml/2006/main">
              <a:ext uri="{FF2B5EF4-FFF2-40B4-BE49-F238E27FC236}">
                <a16:creationId xmlns:a16="http://schemas.microsoft.com/office/drawing/2014/main" id="{375C4D95-E455-4C2E-87D5-C488A47F93C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 · CRCT không dùng hết
</a:t>
            </a:r>
          </a:p>
          <a:p xmlns:a="http://schemas.openxmlformats.org/drawingml/2006/main">
            <a:pPr algn="l">
              <a:defRPr sz="2400">
                <a:solidFill>
                  <a:srgbClr val="000000"/>
                </a:solidFill>
                <a:latin typeface="Helvetica Neue"/>
                <a:ea typeface="Helvetica Neue"/>
                <a:cs typeface="Helvetica Neue"/>
              </a:defRPr>
            </a:pPr>
            <a:r>
              <a:t>Một phần feature đã sinh bị bỏ qua vì số vòng correction quá ít.</a:t>
            </a:r>
          </a:p>
        </p:txBody>
      </p:sp>
    </p:spTree>
    <p:extLst>
      <p:ext uri="{BB962C8B-B14F-4D97-AF65-F5344CB8AC3E}">
        <p14:creationId xmlns:p14="http://schemas.microsoft.com/office/powerpoint/2010/main" val="8038995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4-title">
            <a:extLst xmlns:a="http://schemas.openxmlformats.org/drawingml/2006/main">
              <a:ext uri="{FF2B5EF4-FFF2-40B4-BE49-F238E27FC236}">
                <a16:creationId xmlns:a16="http://schemas.microsoft.com/office/drawing/2014/main" id="{9BFBF486-6B41-4D35-B77C-939B6684DCC7}"/>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CFS được đặt trong feature replay của CRCT</a:t>
            </a:r>
          </a:p>
        </p:txBody>
      </p:sp>
      <p:sp>
        <p:nvSpPr>
          <p:cNvPr id="2" name="slide-4-footer">
            <a:extLst xmlns:a="http://schemas.openxmlformats.org/drawingml/2006/main">
              <a:ext uri="{FF2B5EF4-FFF2-40B4-BE49-F238E27FC236}">
                <a16:creationId xmlns:a16="http://schemas.microsoft.com/office/drawing/2014/main" id="{DF08EBC6-75F2-4366-BAC7-F1DF4BB07EB1}"/>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000000"/>
                </a:solidFill>
                <a:latin typeface="Arial"/>
                <a:ea typeface="Arial"/>
                <a:cs typeface="Arial"/>
              </a:defRPr>
            </a:pPr>
            <a:r>
              <a:rPr sz="975">
                <a:solidFill>
                  <a:srgbClr val="000000"/>
                </a:solidFill>
                <a:latin typeface="Arial"/>
                <a:ea typeface="Arial"/>
                <a:cs typeface="Arial"/>
              </a:rPr>
              <a:t>4</a:t>
            </a:r>
          </a:p>
        </p:txBody>
      </p:sp>
      <p:sp>
        <p:nvSpPr>
          <p:cNvPr id="3" name="cfs-real-feature">
            <a:extLst xmlns:a="http://schemas.openxmlformats.org/drawingml/2006/main">
              <a:ext uri="{FF2B5EF4-FFF2-40B4-BE49-F238E27FC236}">
                <a16:creationId xmlns:a16="http://schemas.microsoft.com/office/drawing/2014/main" id="{1B07D777-A603-4638-98E9-51947DFBEDFA}"/>
              </a:ext>
            </a:extLst>
          </p:cNvPr>
          <p:cNvSpPr>
            <a:spLocks xmlns:a="http://schemas.openxmlformats.org/drawingml/2006/main" noGrp="1"/>
          </p:cNvSpPr>
          <p:nvPr/>
        </p:nvSpPr>
        <p:spPr>
          <a:xfrm xmlns:a="http://schemas.openxmlformats.org/drawingml/2006/main">
            <a:off x="4000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Feature thật</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theo lớp</a:t>
            </a:r>
          </a:p>
        </p:txBody>
      </p:sp>
      <p:sp>
        <p:nvSpPr>
          <p:cNvPr id="4" name="arrow-4-1">
            <a:extLst xmlns:a="http://schemas.openxmlformats.org/drawingml/2006/main">
              <a:ext uri="{FF2B5EF4-FFF2-40B4-BE49-F238E27FC236}">
                <a16:creationId xmlns:a16="http://schemas.microsoft.com/office/drawing/2014/main" id="{E4379B9D-D8DF-424F-BC43-457194401C40}"/>
              </a:ext>
            </a:extLst>
          </p:cNvPr>
          <p:cNvSpPr>
            <a:spLocks xmlns:a="http://schemas.openxmlformats.org/drawingml/2006/main" noGrp="1"/>
          </p:cNvSpPr>
          <p:nvPr/>
        </p:nvSpPr>
        <p:spPr>
          <a:xfrm xmlns:a="http://schemas.openxmlformats.org/drawingml/2006/main">
            <a:off x="19145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5" name="cfs-statistics">
            <a:extLst xmlns:a="http://schemas.openxmlformats.org/drawingml/2006/main">
              <a:ext uri="{FF2B5EF4-FFF2-40B4-BE49-F238E27FC236}">
                <a16:creationId xmlns:a16="http://schemas.microsoft.com/office/drawing/2014/main" id="{4F2B0811-0391-450F-B390-32E25ECB8674}"/>
              </a:ext>
            </a:extLst>
          </p:cNvPr>
          <p:cNvSpPr>
            <a:spLocks xmlns:a="http://schemas.openxmlformats.org/drawingml/2006/main" noGrp="1"/>
          </p:cNvSpPr>
          <p:nvPr/>
        </p:nvSpPr>
        <p:spPr>
          <a:xfrm xmlns:a="http://schemas.openxmlformats.org/drawingml/2006/main">
            <a:off x="23431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Mean +</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covariance</a:t>
            </a:r>
          </a:p>
        </p:txBody>
      </p:sp>
      <p:sp>
        <p:nvSpPr>
          <p:cNvPr id="6" name="arrow-4-2">
            <a:extLst xmlns:a="http://schemas.openxmlformats.org/drawingml/2006/main">
              <a:ext uri="{FF2B5EF4-FFF2-40B4-BE49-F238E27FC236}">
                <a16:creationId xmlns:a16="http://schemas.microsoft.com/office/drawing/2014/main" id="{FA70930C-7528-4137-9896-9E137812CB06}"/>
              </a:ext>
            </a:extLst>
          </p:cNvPr>
          <p:cNvSpPr>
            <a:spLocks xmlns:a="http://schemas.openxmlformats.org/drawingml/2006/main" noGrp="1"/>
          </p:cNvSpPr>
          <p:nvPr/>
        </p:nvSpPr>
        <p:spPr>
          <a:xfrm xmlns:a="http://schemas.openxmlformats.org/drawingml/2006/main">
            <a:off x="38576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7" name="cfs-candidates">
            <a:extLst xmlns:a="http://schemas.openxmlformats.org/drawingml/2006/main">
              <a:ext uri="{FF2B5EF4-FFF2-40B4-BE49-F238E27FC236}">
                <a16:creationId xmlns:a16="http://schemas.microsoft.com/office/drawing/2014/main" id="{53160EEC-4BBA-4A15-83DB-88631E80CC92}"/>
              </a:ext>
            </a:extLst>
          </p:cNvPr>
          <p:cNvSpPr>
            <a:spLocks xmlns:a="http://schemas.openxmlformats.org/drawingml/2006/main" noGrp="1"/>
          </p:cNvSpPr>
          <p:nvPr/>
        </p:nvSpPr>
        <p:spPr>
          <a:xfrm xmlns:a="http://schemas.openxmlformats.org/drawingml/2006/main">
            <a:off x="42862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Nhiều Gaussian</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candidate</a:t>
            </a:r>
          </a:p>
        </p:txBody>
      </p:sp>
      <p:sp>
        <p:nvSpPr>
          <p:cNvPr id="8" name="arrow-4-3">
            <a:extLst xmlns:a="http://schemas.openxmlformats.org/drawingml/2006/main">
              <a:ext uri="{FF2B5EF4-FFF2-40B4-BE49-F238E27FC236}">
                <a16:creationId xmlns:a16="http://schemas.microsoft.com/office/drawing/2014/main" id="{50C20CEF-7DD1-405C-A005-9A359C8D3667}"/>
              </a:ext>
            </a:extLst>
          </p:cNvPr>
          <p:cNvSpPr>
            <a:spLocks xmlns:a="http://schemas.openxmlformats.org/drawingml/2006/main" noGrp="1"/>
          </p:cNvSpPr>
          <p:nvPr/>
        </p:nvSpPr>
        <p:spPr>
          <a:xfrm xmlns:a="http://schemas.openxmlformats.org/drawingml/2006/main">
            <a:off x="58007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9" name="cfs-selection">
            <a:extLst xmlns:a="http://schemas.openxmlformats.org/drawingml/2006/main">
              <a:ext uri="{FF2B5EF4-FFF2-40B4-BE49-F238E27FC236}">
                <a16:creationId xmlns:a16="http://schemas.microsoft.com/office/drawing/2014/main" id="{3DB53CDB-1FAA-4B5A-A156-F2FC00169635}"/>
              </a:ext>
            </a:extLst>
          </p:cNvPr>
          <p:cNvSpPr>
            <a:spLocks xmlns:a="http://schemas.openxmlformats.org/drawingml/2006/main" noGrp="1"/>
          </p:cNvSpPr>
          <p:nvPr/>
        </p:nvSpPr>
        <p:spPr>
          <a:xfrm xmlns:a="http://schemas.openxmlformats.org/drawingml/2006/main">
            <a:off x="62293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CFS chọn tập</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đa dạng</a:t>
            </a:r>
          </a:p>
        </p:txBody>
      </p:sp>
      <p:sp>
        <p:nvSpPr>
          <p:cNvPr id="10" name="arrow-4-4">
            <a:extLst xmlns:a="http://schemas.openxmlformats.org/drawingml/2006/main">
              <a:ext uri="{FF2B5EF4-FFF2-40B4-BE49-F238E27FC236}">
                <a16:creationId xmlns:a16="http://schemas.microsoft.com/office/drawing/2014/main" id="{74E64046-BC63-4D1E-AB33-F573925CEEAE}"/>
              </a:ext>
            </a:extLst>
          </p:cNvPr>
          <p:cNvSpPr>
            <a:spLocks xmlns:a="http://schemas.openxmlformats.org/drawingml/2006/main" noGrp="1"/>
          </p:cNvSpPr>
          <p:nvPr/>
        </p:nvSpPr>
        <p:spPr>
          <a:xfrm xmlns:a="http://schemas.openxmlformats.org/drawingml/2006/main">
            <a:off x="77438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1" name="cfs-crct">
            <a:extLst xmlns:a="http://schemas.openxmlformats.org/drawingml/2006/main">
              <a:ext uri="{FF2B5EF4-FFF2-40B4-BE49-F238E27FC236}">
                <a16:creationId xmlns:a16="http://schemas.microsoft.com/office/drawing/2014/main" id="{E3FC9362-7CA8-4298-96DA-43FA010793B6}"/>
              </a:ext>
            </a:extLst>
          </p:cNvPr>
          <p:cNvSpPr>
            <a:spLocks xmlns:a="http://schemas.openxmlformats.org/drawingml/2006/main" noGrp="1"/>
          </p:cNvSpPr>
          <p:nvPr/>
        </p:nvSpPr>
        <p:spPr>
          <a:xfrm xmlns:a="http://schemas.openxmlformats.org/drawingml/2006/main">
            <a:off x="81724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CRCT sửa</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classifier</a:t>
            </a:r>
          </a:p>
        </p:txBody>
      </p:sp>
      <p:sp>
        <p:nvSpPr>
          <p:cNvPr id="12" name="arrow-4-5">
            <a:extLst xmlns:a="http://schemas.openxmlformats.org/drawingml/2006/main">
              <a:ext uri="{FF2B5EF4-FFF2-40B4-BE49-F238E27FC236}">
                <a16:creationId xmlns:a16="http://schemas.microsoft.com/office/drawing/2014/main" id="{A8F1D6AE-9BAA-46FB-9779-4EAFA3A10FA1}"/>
              </a:ext>
            </a:extLst>
          </p:cNvPr>
          <p:cNvSpPr>
            <a:spLocks xmlns:a="http://schemas.openxmlformats.org/drawingml/2006/main" noGrp="1"/>
          </p:cNvSpPr>
          <p:nvPr/>
        </p:nvSpPr>
        <p:spPr>
          <a:xfrm xmlns:a="http://schemas.openxmlformats.org/drawingml/2006/main">
            <a:off x="96869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3" name="cfs-result">
            <a:extLst xmlns:a="http://schemas.openxmlformats.org/drawingml/2006/main">
              <a:ext uri="{FF2B5EF4-FFF2-40B4-BE49-F238E27FC236}">
                <a16:creationId xmlns:a16="http://schemas.microsoft.com/office/drawing/2014/main" id="{F23537CC-076E-4B44-BC36-327854192526}"/>
              </a:ext>
            </a:extLst>
          </p:cNvPr>
          <p:cNvSpPr>
            <a:spLocks xmlns:a="http://schemas.openxmlformats.org/drawingml/2006/main" noGrp="1"/>
          </p:cNvSpPr>
          <p:nvPr/>
        </p:nvSpPr>
        <p:spPr>
          <a:xfrm xmlns:a="http://schemas.openxmlformats.org/drawingml/2006/main">
            <a:off x="10115550" y="2381250"/>
            <a:ext cx="167640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Classifier</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ổn định hơn</a:t>
            </a:r>
          </a:p>
        </p:txBody>
      </p:sp>
      <p:sp>
        <p:nvSpPr>
          <p:cNvPr id="14" name="cfs-main-message">
            <a:extLst xmlns:a="http://schemas.openxmlformats.org/drawingml/2006/main">
              <a:ext uri="{FF2B5EF4-FFF2-40B4-BE49-F238E27FC236}">
                <a16:creationId xmlns:a16="http://schemas.microsoft.com/office/drawing/2014/main" id="{2D3273F7-5940-4A21-8175-39D4BB78C291}"/>
              </a:ext>
            </a:extLst>
          </p:cNvPr>
          <p:cNvSpPr>
            <a:spLocks xmlns:a="http://schemas.openxmlformats.org/drawingml/2006/main" noGrp="1"/>
          </p:cNvSpPr>
          <p:nvPr/>
        </p:nvSpPr>
        <p:spPr>
          <a:xfrm xmlns:a="http://schemas.openxmlformats.org/drawingml/2006/main">
            <a:off x="1143000" y="40957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875" b="0">
                <a:solidFill>
                  <a:srgbClr val="58606B"/>
                </a:solidFill>
                <a:latin typeface="Arial"/>
                <a:ea typeface="Arial"/>
                <a:cs typeface="Arial"/>
              </a:defRPr>
            </a:pPr>
            <a:r>
              <a:rPr sz="1875" b="0">
                <a:solidFill>
                  <a:srgbClr val="58606B"/>
                </a:solidFill>
                <a:latin typeface="Arial"/>
                <a:ea typeface="Arial"/>
                <a:cs typeface="Arial"/>
              </a:rPr>
              <a:t>CFS không đổi backbone và không chạy lúc suy luận. Nó chỉ chọn feature replay tốt hơn trước khi CRCT học lại classifier.</a:t>
            </a:r>
          </a:p>
        </p:txBody>
      </p:sp>
    </p:spTree>
    <p:extLst>
      <p:ext uri="{BB962C8B-B14F-4D97-AF65-F5344CB8AC3E}">
        <p14:creationId xmlns:p14="http://schemas.microsoft.com/office/powerpoint/2010/main" val="5325101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BA0E32B-4A2E-4896-B863-9BE1D6C8592A}"/>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2-3">
            <a:extLst xmlns:a="http://schemas.openxmlformats.org/drawingml/2006/main">
              <a:ext uri="{FF2B5EF4-FFF2-40B4-BE49-F238E27FC236}">
                <a16:creationId xmlns:a16="http://schemas.microsoft.com/office/drawing/2014/main" id="{844DEAD9-146A-4CA9-B078-7F915B4B6F4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Replay tốt hơn cả về chất lượng lẫn cách sử dụng</a:t>
            </a:r>
          </a:p>
        </p:txBody>
      </p:sp>
      <p:sp>
        <p:nvSpPr>
          <p:cNvPr id="3" name="Content-Placeholder-9-4">
            <a:extLst xmlns:a="http://schemas.openxmlformats.org/drawingml/2006/main">
              <a:ext uri="{FF2B5EF4-FFF2-40B4-BE49-F238E27FC236}">
                <a16:creationId xmlns:a16="http://schemas.microsoft.com/office/drawing/2014/main" id="{A9922376-4809-4840-A7F2-D2014D677C4E}"/>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CFS diversity
</a:t>
            </a:r>
          </a:p>
          <a:p xmlns:a="http://schemas.openxmlformats.org/drawingml/2006/main">
            <a:pPr algn="l">
              <a:defRPr sz="2400">
                <a:solidFill>
                  <a:srgbClr val="000000"/>
                </a:solidFill>
                <a:latin typeface="Helvetica Neue"/>
                <a:ea typeface="Helvetica Neue"/>
                <a:cs typeface="Helvetica Neue"/>
              </a:defRPr>
            </a:pPr>
            <a:r>
              <a:t>Loại bớt feature Gaussian trùng lặp.</a:t>
            </a:r>
          </a:p>
        </p:txBody>
      </p:sp>
      <p:sp>
        <p:nvSpPr>
          <p:cNvPr id="4" name="Content-Placeholder-10-5">
            <a:extLst xmlns:a="http://schemas.openxmlformats.org/drawingml/2006/main">
              <a:ext uri="{FF2B5EF4-FFF2-40B4-BE49-F238E27FC236}">
                <a16:creationId xmlns:a16="http://schemas.microsoft.com/office/drawing/2014/main" id="{B2435C28-8812-43D2-93CA-9F742BD16718}"/>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Full replay
</a:t>
            </a:r>
          </a:p>
          <a:p xmlns:a="http://schemas.openxmlformats.org/drawingml/2006/main">
            <a:pPr algn="l">
              <a:defRPr sz="2400">
                <a:solidFill>
                  <a:srgbClr val="000000"/>
                </a:solidFill>
                <a:latin typeface="Helvetica Neue"/>
                <a:ea typeface="Helvetica Neue"/>
                <a:cs typeface="Helvetica Neue"/>
              </a:defRPr>
            </a:pPr>
            <a:r>
              <a:t>CRCT dùng toàn bộ feature đã sinh.</a:t>
            </a:r>
          </a:p>
        </p:txBody>
      </p:sp>
      <p:sp>
        <p:nvSpPr>
          <p:cNvPr id="5" name="Content-Placeholder-9-6">
            <a:extLst xmlns:a="http://schemas.openxmlformats.org/drawingml/2006/main">
              <a:ext uri="{FF2B5EF4-FFF2-40B4-BE49-F238E27FC236}">
                <a16:creationId xmlns:a16="http://schemas.microsoft.com/office/drawing/2014/main" id="{219990AF-CA3D-47A9-820D-E458937D8DE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25% boundary
</a:t>
            </a:r>
          </a:p>
          <a:p xmlns:a="http://schemas.openxmlformats.org/drawingml/2006/main">
            <a:pPr algn="l">
              <a:defRPr sz="2400">
                <a:solidFill>
                  <a:srgbClr val="000000"/>
                </a:solidFill>
                <a:latin typeface="Helvetica Neue"/>
                <a:ea typeface="Helvetica Neue"/>
                <a:cs typeface="Helvetica Neue"/>
              </a:defRPr>
            </a:pPr>
            <a:r>
              <a:t>Thêm mẫu gần biên, nơi classifier dễ nhầm.</a:t>
            </a:r>
          </a:p>
        </p:txBody>
      </p:sp>
      <p:sp>
        <p:nvSpPr>
          <p:cNvPr id="6" name="Content-Placeholder-10-7">
            <a:extLst xmlns:a="http://schemas.openxmlformats.org/drawingml/2006/main">
              <a:ext uri="{FF2B5EF4-FFF2-40B4-BE49-F238E27FC236}">
                <a16:creationId xmlns:a16="http://schemas.microsoft.com/office/drawing/2014/main" id="{1DA4BA05-DE22-4ECD-AA74-C6607E79CB4F}"/>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Giữ phần còn lại
</a:t>
            </a:r>
          </a:p>
          <a:p xmlns:a="http://schemas.openxmlformats.org/drawingml/2006/main">
            <a:pPr algn="l">
              <a:defRPr sz="2400">
                <a:solidFill>
                  <a:srgbClr val="000000"/>
                </a:solidFill>
                <a:latin typeface="Helvetica Neue"/>
                <a:ea typeface="Helvetica Neue"/>
                <a:cs typeface="Helvetica Neue"/>
              </a:defRPr>
            </a:pPr>
            <a:r>
              <a:t>75% vẫn ưu tiên feature CFS đa dạng.</a:t>
            </a:r>
          </a:p>
        </p:txBody>
      </p:sp>
    </p:spTree>
    <p:extLst>
      <p:ext uri="{BB962C8B-B14F-4D97-AF65-F5344CB8AC3E}">
        <p14:creationId xmlns:p14="http://schemas.microsoft.com/office/powerpoint/2010/main" val="949364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6-title">
            <a:extLst xmlns:a="http://schemas.openxmlformats.org/drawingml/2006/main">
              <a:ext uri="{FF2B5EF4-FFF2-40B4-BE49-F238E27FC236}">
                <a16:creationId xmlns:a16="http://schemas.microsoft.com/office/drawing/2014/main" id="{A379E277-B31D-448F-837E-328D301A5A26}"/>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CTIRD mới học từ task liên quan, không từ class logit thấp</a:t>
            </a:r>
          </a:p>
        </p:txBody>
      </p:sp>
      <p:sp>
        <p:nvSpPr>
          <p:cNvPr id="2" name="slide-6-footer">
            <a:extLst xmlns:a="http://schemas.openxmlformats.org/drawingml/2006/main">
              <a:ext uri="{FF2B5EF4-FFF2-40B4-BE49-F238E27FC236}">
                <a16:creationId xmlns:a16="http://schemas.microsoft.com/office/drawing/2014/main" id="{AD99CD9E-B121-46E5-BB76-2364D01FF9EC}"/>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000000"/>
                </a:solidFill>
                <a:latin typeface="Arial"/>
                <a:ea typeface="Arial"/>
                <a:cs typeface="Arial"/>
              </a:defRPr>
            </a:pPr>
            <a:r>
              <a:rPr sz="975">
                <a:solidFill>
                  <a:srgbClr val="000000"/>
                </a:solidFill>
                <a:latin typeface="Arial"/>
                <a:ea typeface="Arial"/>
                <a:cs typeface="Arial"/>
              </a:rPr>
              <a:t>6</a:t>
            </a:r>
          </a:p>
        </p:txBody>
      </p:sp>
      <p:sp>
        <p:nvSpPr>
          <p:cNvPr id="3" name="ctird-before-label">
            <a:extLst xmlns:a="http://schemas.openxmlformats.org/drawingml/2006/main">
              <a:ext uri="{FF2B5EF4-FFF2-40B4-BE49-F238E27FC236}">
                <a16:creationId xmlns:a16="http://schemas.microsoft.com/office/drawing/2014/main" id="{AD99C9EF-ECD6-47B1-AF91-693C38A8AB12}"/>
              </a:ext>
            </a:extLst>
          </p:cNvPr>
          <p:cNvSpPr>
            <a:spLocks xmlns:a="http://schemas.openxmlformats.org/drawingml/2006/main" noGrp="1"/>
          </p:cNvSpPr>
          <p:nvPr/>
        </p:nvSpPr>
        <p:spPr>
          <a:xfrm xmlns:a="http://schemas.openxmlformats.org/drawingml/2006/main">
            <a:off x="400050" y="149542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58606B"/>
                </a:solidFill>
                <a:latin typeface="Arial"/>
                <a:ea typeface="Arial"/>
                <a:cs typeface="Arial"/>
              </a:defRPr>
            </a:pPr>
            <a:r>
              <a:rPr sz="1350" b="1">
                <a:solidFill>
                  <a:srgbClr val="58606B"/>
                </a:solidFill>
                <a:latin typeface="Arial"/>
                <a:ea typeface="Arial"/>
                <a:cs typeface="Arial"/>
              </a:rPr>
              <a:t>TRƯỚC</a:t>
            </a:r>
          </a:p>
        </p:txBody>
      </p:sp>
      <p:sp>
        <p:nvSpPr>
          <p:cNvPr id="4" name="ctird-old-1">
            <a:extLst xmlns:a="http://schemas.openxmlformats.org/drawingml/2006/main">
              <a:ext uri="{FF2B5EF4-FFF2-40B4-BE49-F238E27FC236}">
                <a16:creationId xmlns:a16="http://schemas.microsoft.com/office/drawing/2014/main" id="{92A2B5BA-46E9-4BDA-BF60-0BBF2070908B}"/>
              </a:ext>
            </a:extLst>
          </p:cNvPr>
          <p:cNvSpPr>
            <a:spLocks xmlns:a="http://schemas.openxmlformats.org/drawingml/2006/main" noGrp="1"/>
          </p:cNvSpPr>
          <p:nvPr/>
        </p:nvSpPr>
        <p:spPr>
          <a:xfrm xmlns:a="http://schemas.openxmlformats.org/drawingml/2006/main">
            <a:off x="40005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Chọn class</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logit thấp</a:t>
            </a:r>
          </a:p>
        </p:txBody>
      </p:sp>
      <p:sp>
        <p:nvSpPr>
          <p:cNvPr id="5" name="ctird-old-arrow-1">
            <a:extLst xmlns:a="http://schemas.openxmlformats.org/drawingml/2006/main">
              <a:ext uri="{FF2B5EF4-FFF2-40B4-BE49-F238E27FC236}">
                <a16:creationId xmlns:a16="http://schemas.microsoft.com/office/drawing/2014/main" id="{7BCB4E1B-D46A-4F99-AD3F-ADE066A14366}"/>
              </a:ext>
            </a:extLst>
          </p:cNvPr>
          <p:cNvSpPr>
            <a:spLocks xmlns:a="http://schemas.openxmlformats.org/drawingml/2006/main" noGrp="1"/>
          </p:cNvSpPr>
          <p:nvPr/>
        </p:nvSpPr>
        <p:spPr>
          <a:xfrm xmlns:a="http://schemas.openxmlformats.org/drawingml/2006/main">
            <a:off x="290512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6" name="ctird-old-2">
            <a:extLst xmlns:a="http://schemas.openxmlformats.org/drawingml/2006/main">
              <a:ext uri="{FF2B5EF4-FFF2-40B4-BE49-F238E27FC236}">
                <a16:creationId xmlns:a16="http://schemas.microsoft.com/office/drawing/2014/main" id="{3F2C6AC5-02F6-4FB9-A368-BCA300371E7C}"/>
              </a:ext>
            </a:extLst>
          </p:cNvPr>
          <p:cNvSpPr>
            <a:spLocks xmlns:a="http://schemas.openxmlformats.org/drawingml/2006/main" noGrp="1"/>
          </p:cNvSpPr>
          <p:nvPr/>
        </p:nvSpPr>
        <p:spPr>
          <a:xfrm xmlns:a="http://schemas.openxmlformats.org/drawingml/2006/main">
            <a:off x="342900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Đổi class</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thành task</a:t>
            </a:r>
          </a:p>
        </p:txBody>
      </p:sp>
      <p:sp>
        <p:nvSpPr>
          <p:cNvPr id="7" name="ctird-old-arrow-2">
            <a:extLst xmlns:a="http://schemas.openxmlformats.org/drawingml/2006/main">
              <a:ext uri="{FF2B5EF4-FFF2-40B4-BE49-F238E27FC236}">
                <a16:creationId xmlns:a16="http://schemas.microsoft.com/office/drawing/2014/main" id="{D50CE1E9-35CC-4A47-9BDB-212D752C5055}"/>
              </a:ext>
            </a:extLst>
          </p:cNvPr>
          <p:cNvSpPr>
            <a:spLocks xmlns:a="http://schemas.openxmlformats.org/drawingml/2006/main" noGrp="1"/>
          </p:cNvSpPr>
          <p:nvPr/>
        </p:nvSpPr>
        <p:spPr>
          <a:xfrm xmlns:a="http://schemas.openxmlformats.org/drawingml/2006/main">
            <a:off x="593407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8" name="ctird-old-3">
            <a:extLst xmlns:a="http://schemas.openxmlformats.org/drawingml/2006/main">
              <a:ext uri="{FF2B5EF4-FFF2-40B4-BE49-F238E27FC236}">
                <a16:creationId xmlns:a16="http://schemas.microsoft.com/office/drawing/2014/main" id="{48EC0227-DA56-48F1-8E93-7ADE35BE4E3F}"/>
              </a:ext>
            </a:extLst>
          </p:cNvPr>
          <p:cNvSpPr>
            <a:spLocks xmlns:a="http://schemas.openxmlformats.org/drawingml/2006/main" noGrp="1"/>
          </p:cNvSpPr>
          <p:nvPr/>
        </p:nvSpPr>
        <p:spPr>
          <a:xfrm xmlns:a="http://schemas.openxmlformats.org/drawingml/2006/main">
            <a:off x="645795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Có thể trùng</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hoặc ít liên quan</a:t>
            </a:r>
          </a:p>
        </p:txBody>
      </p:sp>
      <p:sp>
        <p:nvSpPr>
          <p:cNvPr id="9" name="ctird-old-arrow-3">
            <a:extLst xmlns:a="http://schemas.openxmlformats.org/drawingml/2006/main">
              <a:ext uri="{FF2B5EF4-FFF2-40B4-BE49-F238E27FC236}">
                <a16:creationId xmlns:a16="http://schemas.microsoft.com/office/drawing/2014/main" id="{88C9EA87-20CD-4D45-A7D8-47E6E0390AA0}"/>
              </a:ext>
            </a:extLst>
          </p:cNvPr>
          <p:cNvSpPr>
            <a:spLocks xmlns:a="http://schemas.openxmlformats.org/drawingml/2006/main" noGrp="1"/>
          </p:cNvSpPr>
          <p:nvPr/>
        </p:nvSpPr>
        <p:spPr>
          <a:xfrm xmlns:a="http://schemas.openxmlformats.org/drawingml/2006/main">
            <a:off x="896302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0" name="ctird-old-4">
            <a:extLst xmlns:a="http://schemas.openxmlformats.org/drawingml/2006/main">
              <a:ext uri="{FF2B5EF4-FFF2-40B4-BE49-F238E27FC236}">
                <a16:creationId xmlns:a16="http://schemas.microsoft.com/office/drawing/2014/main" id="{1BA9DC2E-1F55-406B-81C9-10C9CF56ED44}"/>
              </a:ext>
            </a:extLst>
          </p:cNvPr>
          <p:cNvSpPr>
            <a:spLocks xmlns:a="http://schemas.openxmlformats.org/drawingml/2006/main" noGrp="1"/>
          </p:cNvSpPr>
          <p:nvPr/>
        </p:nvSpPr>
        <p:spPr>
          <a:xfrm xmlns:a="http://schemas.openxmlformats.org/drawingml/2006/main">
            <a:off x="9486900" y="2047875"/>
            <a:ext cx="23050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Distillation</a:t>
            </a:r>
          </a:p>
          <a:p xmlns:a="http://schemas.openxmlformats.org/drawingml/2006/main">
            <a:pPr algn="ctr">
              <a:defRPr sz="1575" b="0">
                <a:solidFill>
                  <a:srgbClr val="000000"/>
                </a:solidFill>
                <a:latin typeface="Arial"/>
                <a:ea typeface="Arial"/>
                <a:cs typeface="Arial"/>
              </a:defRPr>
            </a:pPr>
            <a:r>
              <a:rPr sz="1575" b="0">
                <a:solidFill>
                  <a:srgbClr val="000000"/>
                </a:solidFill>
                <a:latin typeface="Arial"/>
                <a:ea typeface="Arial"/>
                <a:cs typeface="Arial"/>
              </a:rPr>
              <a:t>nhiễu</a:t>
            </a:r>
          </a:p>
        </p:txBody>
      </p:sp>
      <p:sp>
        <p:nvSpPr>
          <p:cNvPr id="11" name="ctird-after-label">
            <a:extLst xmlns:a="http://schemas.openxmlformats.org/drawingml/2006/main">
              <a:ext uri="{FF2B5EF4-FFF2-40B4-BE49-F238E27FC236}">
                <a16:creationId xmlns:a16="http://schemas.microsoft.com/office/drawing/2014/main" id="{08D01777-F712-4FA9-B026-D790298812F9}"/>
              </a:ext>
            </a:extLst>
          </p:cNvPr>
          <p:cNvSpPr>
            <a:spLocks xmlns:a="http://schemas.openxmlformats.org/drawingml/2006/main" noGrp="1"/>
          </p:cNvSpPr>
          <p:nvPr/>
        </p:nvSpPr>
        <p:spPr>
          <a:xfrm xmlns:a="http://schemas.openxmlformats.org/drawingml/2006/main">
            <a:off x="400050" y="357187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SAU</a:t>
            </a:r>
          </a:p>
        </p:txBody>
      </p:sp>
      <p:sp>
        <p:nvSpPr>
          <p:cNvPr id="12" name="ctird-new-1">
            <a:extLst xmlns:a="http://schemas.openxmlformats.org/drawingml/2006/main">
              <a:ext uri="{FF2B5EF4-FFF2-40B4-BE49-F238E27FC236}">
                <a16:creationId xmlns:a16="http://schemas.microsoft.com/office/drawing/2014/main" id="{FC3C4967-F763-41A9-A4E9-B4877BAE9509}"/>
              </a:ext>
            </a:extLst>
          </p:cNvPr>
          <p:cNvSpPr>
            <a:spLocks xmlns:a="http://schemas.openxmlformats.org/drawingml/2006/main" noGrp="1"/>
          </p:cNvSpPr>
          <p:nvPr/>
        </p:nvSpPr>
        <p:spPr>
          <a:xfrm xmlns:a="http://schemas.openxmlformats.org/drawingml/2006/main">
            <a:off x="40005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Tính energy</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cho từng task</a:t>
            </a:r>
          </a:p>
        </p:txBody>
      </p:sp>
      <p:sp>
        <p:nvSpPr>
          <p:cNvPr id="13" name="ctird-new-arrow-1">
            <a:extLst xmlns:a="http://schemas.openxmlformats.org/drawingml/2006/main">
              <a:ext uri="{FF2B5EF4-FFF2-40B4-BE49-F238E27FC236}">
                <a16:creationId xmlns:a16="http://schemas.microsoft.com/office/drawing/2014/main" id="{090F1663-50A4-4B7E-B0FF-FD7FB8C57A5B}"/>
              </a:ext>
            </a:extLst>
          </p:cNvPr>
          <p:cNvSpPr>
            <a:spLocks xmlns:a="http://schemas.openxmlformats.org/drawingml/2006/main" noGrp="1"/>
          </p:cNvSpPr>
          <p:nvPr/>
        </p:nvSpPr>
        <p:spPr>
          <a:xfrm xmlns:a="http://schemas.openxmlformats.org/drawingml/2006/main">
            <a:off x="290512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4" name="ctird-new-2">
            <a:extLst xmlns:a="http://schemas.openxmlformats.org/drawingml/2006/main">
              <a:ext uri="{FF2B5EF4-FFF2-40B4-BE49-F238E27FC236}">
                <a16:creationId xmlns:a16="http://schemas.microsoft.com/office/drawing/2014/main" id="{97DD3670-CCBD-4798-AE2F-905D6A1610DD}"/>
              </a:ext>
            </a:extLst>
          </p:cNvPr>
          <p:cNvSpPr>
            <a:spLocks xmlns:a="http://schemas.openxmlformats.org/drawingml/2006/main" noGrp="1"/>
          </p:cNvSpPr>
          <p:nvPr/>
        </p:nvSpPr>
        <p:spPr>
          <a:xfrm xmlns:a="http://schemas.openxmlformats.org/drawingml/2006/main">
            <a:off x="342900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Chọn top-5</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task riêng biệt</a:t>
            </a:r>
          </a:p>
        </p:txBody>
      </p:sp>
      <p:sp>
        <p:nvSpPr>
          <p:cNvPr id="15" name="ctird-new-arrow-2">
            <a:extLst xmlns:a="http://schemas.openxmlformats.org/drawingml/2006/main">
              <a:ext uri="{FF2B5EF4-FFF2-40B4-BE49-F238E27FC236}">
                <a16:creationId xmlns:a16="http://schemas.microsoft.com/office/drawing/2014/main" id="{DBD206CE-A8EC-425D-AD4B-1D8918EECBE5}"/>
              </a:ext>
            </a:extLst>
          </p:cNvPr>
          <p:cNvSpPr>
            <a:spLocks xmlns:a="http://schemas.openxmlformats.org/drawingml/2006/main" noGrp="1"/>
          </p:cNvSpPr>
          <p:nvPr/>
        </p:nvSpPr>
        <p:spPr>
          <a:xfrm xmlns:a="http://schemas.openxmlformats.org/drawingml/2006/main">
            <a:off x="593407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6" name="ctird-new-3">
            <a:extLst xmlns:a="http://schemas.openxmlformats.org/drawingml/2006/main">
              <a:ext uri="{FF2B5EF4-FFF2-40B4-BE49-F238E27FC236}">
                <a16:creationId xmlns:a16="http://schemas.microsoft.com/office/drawing/2014/main" id="{D3B22E0A-33EE-4A2D-8BE3-CC012ACEB86F}"/>
              </a:ext>
            </a:extLst>
          </p:cNvPr>
          <p:cNvSpPr>
            <a:spLocks xmlns:a="http://schemas.openxmlformats.org/drawingml/2006/main" noGrp="1"/>
          </p:cNvSpPr>
          <p:nvPr/>
        </p:nvSpPr>
        <p:spPr>
          <a:xfrm xmlns:a="http://schemas.openxmlformats.org/drawingml/2006/main">
            <a:off x="645795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Task liên quan</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được weight cao</a:t>
            </a:r>
          </a:p>
        </p:txBody>
      </p:sp>
      <p:sp>
        <p:nvSpPr>
          <p:cNvPr id="17" name="ctird-new-arrow-3">
            <a:extLst xmlns:a="http://schemas.openxmlformats.org/drawingml/2006/main">
              <a:ext uri="{FF2B5EF4-FFF2-40B4-BE49-F238E27FC236}">
                <a16:creationId xmlns:a16="http://schemas.microsoft.com/office/drawing/2014/main" id="{32D6D2DA-D4C0-4FEE-A9AA-5BA462AD5328}"/>
              </a:ext>
            </a:extLst>
          </p:cNvPr>
          <p:cNvSpPr>
            <a:spLocks xmlns:a="http://schemas.openxmlformats.org/drawingml/2006/main" noGrp="1"/>
          </p:cNvSpPr>
          <p:nvPr/>
        </p:nvSpPr>
        <p:spPr>
          <a:xfrm xmlns:a="http://schemas.openxmlformats.org/drawingml/2006/main">
            <a:off x="896302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8" name="ctird-new-4">
            <a:extLst xmlns:a="http://schemas.openxmlformats.org/drawingml/2006/main">
              <a:ext uri="{FF2B5EF4-FFF2-40B4-BE49-F238E27FC236}">
                <a16:creationId xmlns:a16="http://schemas.microsoft.com/office/drawing/2014/main" id="{9192D7DB-5068-4B56-A05F-63995C71224B}"/>
              </a:ext>
            </a:extLst>
          </p:cNvPr>
          <p:cNvSpPr>
            <a:spLocks xmlns:a="http://schemas.openxmlformats.org/drawingml/2006/main" noGrp="1"/>
          </p:cNvSpPr>
          <p:nvPr/>
        </p:nvSpPr>
        <p:spPr>
          <a:xfrm xmlns:a="http://schemas.openxmlformats.org/drawingml/2006/main">
            <a:off x="9486900" y="4124325"/>
            <a:ext cx="23050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Giữ tổng lực</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CTIRD không đổi</a:t>
            </a:r>
          </a:p>
        </p:txBody>
      </p:sp>
    </p:spTree>
    <p:extLst>
      <p:ext uri="{BB962C8B-B14F-4D97-AF65-F5344CB8AC3E}">
        <p14:creationId xmlns:p14="http://schemas.microsoft.com/office/powerpoint/2010/main" val="17360559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81048B8C-736D-4E6A-BB79-5AEFBBD5153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374D8597-B583-4FDE-BD93-05411ED73B3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Semantic đã được thử nghiêm túc, nhưng không ép vào bản cuối</a:t>
            </a:r>
          </a:p>
        </p:txBody>
      </p:sp>
      <p:sp>
        <p:nvSpPr>
          <p:cNvPr id="3" name="Google-Shape-534-p58-4">
            <a:extLst xmlns:a="http://schemas.openxmlformats.org/drawingml/2006/main">
              <a:ext uri="{FF2B5EF4-FFF2-40B4-BE49-F238E27FC236}">
                <a16:creationId xmlns:a16="http://schemas.microsoft.com/office/drawing/2014/main" id="{5AA831C2-A19A-4F1F-A2E8-170F4F01A3B5}"/>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Đã triển khai
</a:t>
            </a:r>
          </a:p>
          <a:p xmlns:a="http://schemas.openxmlformats.org/drawingml/2006/main">
            <a:pPr algn="l">
              <a:defRPr sz="2400">
                <a:solidFill>
                  <a:srgbClr val="000000"/>
                </a:solidFill>
                <a:latin typeface="Helvetica Neue"/>
                <a:ea typeface="Helvetica Neue"/>
                <a:cs typeface="Helvetica Neue"/>
              </a:defRPr>
            </a:pPr>
            <a:r>
              <a:t>Top-k semantic
Adaptive gate
CLIP projection
Feature adapter
Covariance transfer</a:t>
            </a:r>
          </a:p>
        </p:txBody>
      </p:sp>
      <p:sp>
        <p:nvSpPr>
          <p:cNvPr id="4" name="Content-Placeholder-3-5">
            <a:extLst xmlns:a="http://schemas.openxmlformats.org/drawingml/2006/main">
              <a:ext uri="{FF2B5EF4-FFF2-40B4-BE49-F238E27FC236}">
                <a16:creationId xmlns:a16="http://schemas.microsoft.com/office/drawing/2014/main" id="{36773D4B-BAA6-4DC0-8192-8C847537363A}"/>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Kết luận ablation
</a:t>
            </a:r>
          </a:p>
          <a:p xmlns:a="http://schemas.openxmlformats.org/drawingml/2006/main">
            <a:pPr algn="l">
              <a:defRPr sz="2400">
                <a:solidFill>
                  <a:srgbClr val="000000"/>
                </a:solidFill>
                <a:latin typeface="Helvetica Neue"/>
                <a:ea typeface="Helvetica Neue"/>
                <a:cs typeface="Helvetica Neue"/>
              </a:defRPr>
            </a:pPr>
            <a:r>
              <a:t>Có lúc giảm loss hoặc forgetting
Nhưng chưa tăng Acc@1 ổn định
Cấu hình tốt nhất: semantic tắt</a:t>
            </a:r>
          </a:p>
        </p:txBody>
      </p:sp>
    </p:spTree>
    <p:extLst>
      <p:ext uri="{BB962C8B-B14F-4D97-AF65-F5344CB8AC3E}">
        <p14:creationId xmlns:p14="http://schemas.microsoft.com/office/powerpoint/2010/main" val="1672457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8-title">
            <a:extLst xmlns:a="http://schemas.openxmlformats.org/drawingml/2006/main">
              <a:ext uri="{FF2B5EF4-FFF2-40B4-BE49-F238E27FC236}">
                <a16:creationId xmlns:a16="http://schemas.microsoft.com/office/drawing/2014/main" id="{B821B35F-3969-4F99-B7D9-CC26ECA047A5}"/>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Kết quả cuối tăng rõ so với HRM-PET gốc</a:t>
            </a:r>
          </a:p>
        </p:txBody>
      </p:sp>
      <p:sp>
        <p:nvSpPr>
          <p:cNvPr id="2" name="slide-8-footer">
            <a:extLst xmlns:a="http://schemas.openxmlformats.org/drawingml/2006/main">
              <a:ext uri="{FF2B5EF4-FFF2-40B4-BE49-F238E27FC236}">
                <a16:creationId xmlns:a16="http://schemas.microsoft.com/office/drawing/2014/main" id="{BB679612-5AB9-481A-B1BB-409E6ACB713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000000"/>
                </a:solidFill>
                <a:latin typeface="Arial"/>
                <a:ea typeface="Arial"/>
                <a:cs typeface="Arial"/>
              </a:defRPr>
            </a:pPr>
            <a:r>
              <a:rPr sz="975">
                <a:solidFill>
                  <a:srgbClr val="000000"/>
                </a:solidFill>
                <a:latin typeface="Arial"/>
                <a:ea typeface="Arial"/>
                <a:cs typeface="Arial"/>
              </a:rPr>
              <a:t>8</a:t>
            </a:r>
          </a:p>
        </p:txBody>
      </p:sp>
      <p:graphicFrame>
        <p:nvGraphicFramePr>
          <p:cNvPr id="9" name="Chart"/>
          <p:cNvGraphicFramePr/>
          <p:nvPr/>
        </p:nvGraphicFramePr>
        <p:xfrm>
          <a:off xmlns:a="http://schemas.openxmlformats.org/drawingml/2006/main" x="400050" y="1381125"/>
          <a:ext xmlns:a="http://schemas.openxmlformats.org/drawingml/2006/main" cx="6048375" cy="4476750"/>
        </p:xfrm>
        <a:graphic xmlns:a="http://schemas.openxmlformats.org/drawingml/2006/main">
          <a:graphicData uri="http://schemas.openxmlformats.org/drawingml/2006/chart">
            <c:chart xmlns:r="http://schemas.openxmlformats.org/officeDocument/2006/relationships" xmlns:c="http://schemas.openxmlformats.org/drawingml/2006/chart" r:id="R1be995a8795f43f0"/>
          </a:graphicData>
        </a:graphic>
      </p:graphicFrame>
      <p:sp>
        <p:nvSpPr>
          <p:cNvPr id="4" name="result-callout-1">
            <a:extLst xmlns:a="http://schemas.openxmlformats.org/drawingml/2006/main">
              <a:ext uri="{FF2B5EF4-FFF2-40B4-BE49-F238E27FC236}">
                <a16:creationId xmlns:a16="http://schemas.microsoft.com/office/drawing/2014/main" id="{A564AF7F-28F2-4202-A12C-705D2C16F93D}"/>
              </a:ext>
            </a:extLst>
          </p:cNvPr>
          <p:cNvSpPr>
            <a:spLocks xmlns:a="http://schemas.openxmlformats.org/drawingml/2006/main" noGrp="1"/>
          </p:cNvSpPr>
          <p:nvPr/>
        </p:nvSpPr>
        <p:spPr>
          <a:xfrm xmlns:a="http://schemas.openxmlformats.org/drawingml/2006/main">
            <a:off x="6953250" y="1381125"/>
            <a:ext cx="4476750" cy="1219200"/>
          </a:xfrm>
          <a:prstGeom xmlns:a="http://schemas.openxmlformats.org/drawingml/2006/main" prst="roundRect">
            <a:avLst>
              <a:gd name="adj" fmla="val 6250"/>
            </a:avLst>
          </a:prstGeom>
          <a:solidFill xmlns:a="http://schemas.openxmlformats.org/drawingml/2006/main">
            <a:srgbClr val="D0EDFA"/>
          </a:solidFill>
          <a:ln xmlns:a="http://schemas.openxmlformats.org/drawingml/2006/main" w="9525">
            <a:solidFill>
              <a:srgbClr val="3D8DFF"/>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defRPr sz="2250" b="1">
                <a:solidFill>
                  <a:srgbClr val="000000"/>
                </a:solidFill>
                <a:latin typeface="Arial"/>
                <a:ea typeface="Arial"/>
                <a:cs typeface="Arial"/>
              </a:defRPr>
            </a:pPr>
            <a:r>
              <a:rPr sz="2250" b="1">
                <a:solidFill>
                  <a:srgbClr val="000000"/>
                </a:solidFill>
                <a:latin typeface="Arial"/>
                <a:ea typeface="Arial"/>
                <a:cs typeface="Arial"/>
              </a:rPr>
              <a:t>+1.70</a:t>
            </a:r>
          </a:p>
          <a:p xmlns:a="http://schemas.openxmlformats.org/drawingml/2006/main">
            <a:pPr algn="l">
              <a:defRPr sz="2250" b="1">
                <a:solidFill>
                  <a:srgbClr val="000000"/>
                </a:solidFill>
                <a:latin typeface="Arial"/>
                <a:ea typeface="Arial"/>
                <a:cs typeface="Arial"/>
              </a:defRPr>
            </a:pPr>
            <a:r>
              <a:rPr sz="2250" b="1">
                <a:solidFill>
                  <a:srgbClr val="000000"/>
                </a:solidFill>
                <a:latin typeface="Arial"/>
                <a:ea typeface="Arial"/>
                <a:cs typeface="Arial"/>
              </a:rPr>
              <a:t>điểm Acc@1</a:t>
            </a:r>
          </a:p>
        </p:txBody>
      </p:sp>
      <p:sp>
        <p:nvSpPr>
          <p:cNvPr id="5" name="result-callout-2">
            <a:extLst xmlns:a="http://schemas.openxmlformats.org/drawingml/2006/main">
              <a:ext uri="{FF2B5EF4-FFF2-40B4-BE49-F238E27FC236}">
                <a16:creationId xmlns:a16="http://schemas.microsoft.com/office/drawing/2014/main" id="{789C307C-B776-48EC-866A-3E8A698D5973}"/>
              </a:ext>
            </a:extLst>
          </p:cNvPr>
          <p:cNvSpPr>
            <a:spLocks xmlns:a="http://schemas.openxmlformats.org/drawingml/2006/main" noGrp="1"/>
          </p:cNvSpPr>
          <p:nvPr/>
        </p:nvSpPr>
        <p:spPr>
          <a:xfrm xmlns:a="http://schemas.openxmlformats.org/drawingml/2006/main">
            <a:off x="6953250" y="2886075"/>
            <a:ext cx="4476750" cy="1219200"/>
          </a:xfrm>
          <a:prstGeom xmlns:a="http://schemas.openxmlformats.org/drawingml/2006/main" prst="roundRect">
            <a:avLst>
              <a:gd name="adj" fmla="val 6250"/>
            </a:avLst>
          </a:prstGeom>
          <a:solidFill xmlns:a="http://schemas.openxmlformats.org/drawingml/2006/main">
            <a:srgbClr val="F2F2F2"/>
          </a:solidFill>
          <a:ln xmlns:a="http://schemas.openxmlformats.org/drawingml/2006/main" w="9525">
            <a:solidFill>
              <a:srgbClr val="F2F2F2"/>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+1.27</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điểm Acc@task</a:t>
            </a:r>
          </a:p>
        </p:txBody>
      </p:sp>
      <p:sp>
        <p:nvSpPr>
          <p:cNvPr id="6" name="result-callout-3">
            <a:extLst xmlns:a="http://schemas.openxmlformats.org/drawingml/2006/main">
              <a:ext uri="{FF2B5EF4-FFF2-40B4-BE49-F238E27FC236}">
                <a16:creationId xmlns:a16="http://schemas.microsoft.com/office/drawing/2014/main" id="{82F45761-13B3-4614-998D-024430EBD42D}"/>
              </a:ext>
            </a:extLst>
          </p:cNvPr>
          <p:cNvSpPr>
            <a:spLocks xmlns:a="http://schemas.openxmlformats.org/drawingml/2006/main" noGrp="1"/>
          </p:cNvSpPr>
          <p:nvPr/>
        </p:nvSpPr>
        <p:spPr>
          <a:xfrm xmlns:a="http://schemas.openxmlformats.org/drawingml/2006/main">
            <a:off x="6953250" y="4391025"/>
            <a:ext cx="4476750" cy="1219200"/>
          </a:xfrm>
          <a:prstGeom xmlns:a="http://schemas.openxmlformats.org/drawingml/2006/main" prst="roundRect">
            <a:avLst>
              <a:gd name="adj" fmla="val 6250"/>
            </a:avLst>
          </a:prstGeom>
          <a:solidFill xmlns:a="http://schemas.openxmlformats.org/drawingml/2006/main">
            <a:srgbClr val="F2F2F2"/>
          </a:solidFill>
          <a:ln xmlns:a="http://schemas.openxmlformats.org/drawingml/2006/main" w="9525">
            <a:solidFill>
              <a:srgbClr val="F2F2F2"/>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−21.4%</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loss cuối</a:t>
            </a:r>
          </a:p>
        </p:txBody>
      </p:sp>
    </p:spTree>
    <p:extLst>
      <p:ext uri="{BB962C8B-B14F-4D97-AF65-F5344CB8AC3E}">
        <p14:creationId xmlns:p14="http://schemas.microsoft.com/office/powerpoint/2010/main" val="5335549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9-title">
            <a:extLst xmlns:a="http://schemas.openxmlformats.org/drawingml/2006/main">
              <a:ext uri="{FF2B5EF4-FFF2-40B4-BE49-F238E27FC236}">
                <a16:creationId xmlns:a16="http://schemas.microsoft.com/office/drawing/2014/main" id="{67CFBB65-DC53-4173-B6BD-9C17B32140EB}"/>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Mỗi bước giải quyết một nút thắt và cộng dồn kết quả</a:t>
            </a:r>
          </a:p>
        </p:txBody>
      </p:sp>
      <p:sp>
        <p:nvSpPr>
          <p:cNvPr id="2" name="slide-9-footer">
            <a:extLst xmlns:a="http://schemas.openxmlformats.org/drawingml/2006/main">
              <a:ext uri="{FF2B5EF4-FFF2-40B4-BE49-F238E27FC236}">
                <a16:creationId xmlns:a16="http://schemas.microsoft.com/office/drawing/2014/main" id="{CC4F8B95-2504-42E4-BAE5-CC834C9360D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000000"/>
                </a:solidFill>
                <a:latin typeface="Arial"/>
                <a:ea typeface="Arial"/>
                <a:cs typeface="Arial"/>
              </a:defRPr>
            </a:pPr>
            <a:r>
              <a:rPr sz="975">
                <a:solidFill>
                  <a:srgbClr val="000000"/>
                </a:solidFill>
                <a:latin typeface="Arial"/>
                <a:ea typeface="Arial"/>
                <a:cs typeface="Arial"/>
              </a:rPr>
              <a:t>9</a:t>
            </a:r>
          </a:p>
        </p:txBody>
      </p:sp>
      <p:sp>
        <p:nvSpPr>
          <p:cNvPr id="3" name="table-header-0">
            <a:extLst xmlns:a="http://schemas.openxmlformats.org/drawingml/2006/main">
              <a:ext uri="{FF2B5EF4-FFF2-40B4-BE49-F238E27FC236}">
                <a16:creationId xmlns:a16="http://schemas.microsoft.com/office/drawing/2014/main" id="{A31C20F9-A20D-4629-9937-19FE84716D43}"/>
              </a:ext>
            </a:extLst>
          </p:cNvPr>
          <p:cNvSpPr>
            <a:spLocks xmlns:a="http://schemas.openxmlformats.org/drawingml/2006/main" noGrp="1"/>
          </p:cNvSpPr>
          <p:nvPr/>
        </p:nvSpPr>
        <p:spPr>
          <a:xfrm xmlns:a="http://schemas.openxmlformats.org/drawingml/2006/main">
            <a:off x="400050" y="1381125"/>
            <a:ext cx="276225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Giai đoạn</a:t>
            </a:r>
          </a:p>
        </p:txBody>
      </p:sp>
      <p:sp>
        <p:nvSpPr>
          <p:cNvPr id="4" name="table-header-1">
            <a:extLst xmlns:a="http://schemas.openxmlformats.org/drawingml/2006/main">
              <a:ext uri="{FF2B5EF4-FFF2-40B4-BE49-F238E27FC236}">
                <a16:creationId xmlns:a16="http://schemas.microsoft.com/office/drawing/2014/main" id="{938D77E2-8064-4296-B1D2-1D51E4670DB4}"/>
              </a:ext>
            </a:extLst>
          </p:cNvPr>
          <p:cNvSpPr>
            <a:spLocks xmlns:a="http://schemas.openxmlformats.org/drawingml/2006/main" noGrp="1"/>
          </p:cNvSpPr>
          <p:nvPr/>
        </p:nvSpPr>
        <p:spPr>
          <a:xfrm xmlns:a="http://schemas.openxmlformats.org/drawingml/2006/main">
            <a:off x="3286125" y="1381125"/>
            <a:ext cx="5286375"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Thay đổi chính</a:t>
            </a:r>
          </a:p>
        </p:txBody>
      </p:sp>
      <p:sp>
        <p:nvSpPr>
          <p:cNvPr id="5" name="table-header-2">
            <a:extLst xmlns:a="http://schemas.openxmlformats.org/drawingml/2006/main">
              <a:ext uri="{FF2B5EF4-FFF2-40B4-BE49-F238E27FC236}">
                <a16:creationId xmlns:a16="http://schemas.microsoft.com/office/drawing/2014/main" id="{E80E000D-BB27-439D-B48C-27DB14D83FF8}"/>
              </a:ext>
            </a:extLst>
          </p:cNvPr>
          <p:cNvSpPr>
            <a:spLocks xmlns:a="http://schemas.openxmlformats.org/drawingml/2006/main" noGrp="1"/>
          </p:cNvSpPr>
          <p:nvPr/>
        </p:nvSpPr>
        <p:spPr>
          <a:xfrm xmlns:a="http://schemas.openxmlformats.org/drawingml/2006/main">
            <a:off x="8715375" y="1381125"/>
            <a:ext cx="156210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Acc@1</a:t>
            </a:r>
          </a:p>
        </p:txBody>
      </p:sp>
      <p:sp>
        <p:nvSpPr>
          <p:cNvPr id="6" name="table-header-3">
            <a:extLst xmlns:a="http://schemas.openxmlformats.org/drawingml/2006/main">
              <a:ext uri="{FF2B5EF4-FFF2-40B4-BE49-F238E27FC236}">
                <a16:creationId xmlns:a16="http://schemas.microsoft.com/office/drawing/2014/main" id="{4133A358-BB2C-4FF4-9900-4207E44736F9}"/>
              </a:ext>
            </a:extLst>
          </p:cNvPr>
          <p:cNvSpPr>
            <a:spLocks xmlns:a="http://schemas.openxmlformats.org/drawingml/2006/main" noGrp="1"/>
          </p:cNvSpPr>
          <p:nvPr/>
        </p:nvSpPr>
        <p:spPr>
          <a:xfrm xmlns:a="http://schemas.openxmlformats.org/drawingml/2006/main">
            <a:off x="10401300" y="1381125"/>
            <a:ext cx="139065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87963"/>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Tăng so với trước</a:t>
            </a:r>
          </a:p>
        </p:txBody>
      </p:sp>
      <p:sp>
        <p:nvSpPr>
          <p:cNvPr id="7" name="table-0-0">
            <a:extLst xmlns:a="http://schemas.openxmlformats.org/drawingml/2006/main">
              <a:ext uri="{FF2B5EF4-FFF2-40B4-BE49-F238E27FC236}">
                <a16:creationId xmlns:a16="http://schemas.microsoft.com/office/drawing/2014/main" id="{9A88B75F-C1EF-4F74-8526-5A2F386BB32B}"/>
              </a:ext>
            </a:extLst>
          </p:cNvPr>
          <p:cNvSpPr>
            <a:spLocks xmlns:a="http://schemas.openxmlformats.org/drawingml/2006/main" noGrp="1"/>
          </p:cNvSpPr>
          <p:nvPr/>
        </p:nvSpPr>
        <p:spPr>
          <a:xfrm xmlns:a="http://schemas.openxmlformats.org/drawingml/2006/main">
            <a:off x="400050" y="19526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HRM-PET gốc</a:t>
            </a:r>
          </a:p>
        </p:txBody>
      </p:sp>
      <p:sp>
        <p:nvSpPr>
          <p:cNvPr id="8" name="table-0-1">
            <a:extLst xmlns:a="http://schemas.openxmlformats.org/drawingml/2006/main">
              <a:ext uri="{FF2B5EF4-FFF2-40B4-BE49-F238E27FC236}">
                <a16:creationId xmlns:a16="http://schemas.microsoft.com/office/drawing/2014/main" id="{F5D74162-0AF8-4D32-90EB-4831AD4CA5DC}"/>
              </a:ext>
            </a:extLst>
          </p:cNvPr>
          <p:cNvSpPr>
            <a:spLocks xmlns:a="http://schemas.openxmlformats.org/drawingml/2006/main" noGrp="1"/>
          </p:cNvSpPr>
          <p:nvPr/>
        </p:nvSpPr>
        <p:spPr>
          <a:xfrm xmlns:a="http://schemas.openxmlformats.org/drawingml/2006/main">
            <a:off x="3286125" y="19526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Gaussian replay + CTIRD legacy</a:t>
            </a:r>
          </a:p>
        </p:txBody>
      </p:sp>
      <p:sp>
        <p:nvSpPr>
          <p:cNvPr id="9" name="table-0-2">
            <a:extLst xmlns:a="http://schemas.openxmlformats.org/drawingml/2006/main">
              <a:ext uri="{FF2B5EF4-FFF2-40B4-BE49-F238E27FC236}">
                <a16:creationId xmlns:a16="http://schemas.microsoft.com/office/drawing/2014/main" id="{978912BA-C253-4663-960E-ED40F8B85882}"/>
              </a:ext>
            </a:extLst>
          </p:cNvPr>
          <p:cNvSpPr>
            <a:spLocks xmlns:a="http://schemas.openxmlformats.org/drawingml/2006/main" noGrp="1"/>
          </p:cNvSpPr>
          <p:nvPr/>
        </p:nvSpPr>
        <p:spPr>
          <a:xfrm xmlns:a="http://schemas.openxmlformats.org/drawingml/2006/main">
            <a:off x="8715375" y="19526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86.90</a:t>
            </a:r>
          </a:p>
        </p:txBody>
      </p:sp>
      <p:sp>
        <p:nvSpPr>
          <p:cNvPr id="10" name="table-0-3">
            <a:extLst xmlns:a="http://schemas.openxmlformats.org/drawingml/2006/main">
              <a:ext uri="{FF2B5EF4-FFF2-40B4-BE49-F238E27FC236}">
                <a16:creationId xmlns:a16="http://schemas.microsoft.com/office/drawing/2014/main" id="{62A87D94-F30D-489B-8B28-4B572C884934}"/>
              </a:ext>
            </a:extLst>
          </p:cNvPr>
          <p:cNvSpPr>
            <a:spLocks xmlns:a="http://schemas.openxmlformats.org/drawingml/2006/main" noGrp="1"/>
          </p:cNvSpPr>
          <p:nvPr/>
        </p:nvSpPr>
        <p:spPr>
          <a:xfrm xmlns:a="http://schemas.openxmlformats.org/drawingml/2006/main">
            <a:off x="10401300" y="19526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a:t>
            </a:r>
          </a:p>
        </p:txBody>
      </p:sp>
      <p:sp>
        <p:nvSpPr>
          <p:cNvPr id="11" name="table-1-0">
            <a:extLst xmlns:a="http://schemas.openxmlformats.org/drawingml/2006/main">
              <a:ext uri="{FF2B5EF4-FFF2-40B4-BE49-F238E27FC236}">
                <a16:creationId xmlns:a16="http://schemas.microsoft.com/office/drawing/2014/main" id="{50A372CF-0576-49D4-8E7F-EB66482765F0}"/>
              </a:ext>
            </a:extLst>
          </p:cNvPr>
          <p:cNvSpPr>
            <a:spLocks xmlns:a="http://schemas.openxmlformats.org/drawingml/2006/main" noGrp="1"/>
          </p:cNvSpPr>
          <p:nvPr/>
        </p:nvSpPr>
        <p:spPr>
          <a:xfrm xmlns:a="http://schemas.openxmlformats.org/drawingml/2006/main">
            <a:off x="400050" y="2600325"/>
            <a:ext cx="2762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CFS-only</a:t>
            </a:r>
          </a:p>
        </p:txBody>
      </p:sp>
      <p:sp>
        <p:nvSpPr>
          <p:cNvPr id="12" name="table-1-1">
            <a:extLst xmlns:a="http://schemas.openxmlformats.org/drawingml/2006/main">
              <a:ext uri="{FF2B5EF4-FFF2-40B4-BE49-F238E27FC236}">
                <a16:creationId xmlns:a16="http://schemas.microsoft.com/office/drawing/2014/main" id="{7E577567-6E26-444E-B57D-665A3BAC8EB7}"/>
              </a:ext>
            </a:extLst>
          </p:cNvPr>
          <p:cNvSpPr>
            <a:spLocks xmlns:a="http://schemas.openxmlformats.org/drawingml/2006/main" noGrp="1"/>
          </p:cNvSpPr>
          <p:nvPr/>
        </p:nvSpPr>
        <p:spPr>
          <a:xfrm xmlns:a="http://schemas.openxmlformats.org/drawingml/2006/main">
            <a:off x="3286125" y="2600325"/>
            <a:ext cx="5286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Chọn replay đa dạng</a:t>
            </a:r>
          </a:p>
        </p:txBody>
      </p:sp>
      <p:sp>
        <p:nvSpPr>
          <p:cNvPr id="13" name="table-1-2">
            <a:extLst xmlns:a="http://schemas.openxmlformats.org/drawingml/2006/main">
              <a:ext uri="{FF2B5EF4-FFF2-40B4-BE49-F238E27FC236}">
                <a16:creationId xmlns:a16="http://schemas.microsoft.com/office/drawing/2014/main" id="{13B1A7F9-068D-45E1-A4D7-B4DF2C8DCC92}"/>
              </a:ext>
            </a:extLst>
          </p:cNvPr>
          <p:cNvSpPr>
            <a:spLocks xmlns:a="http://schemas.openxmlformats.org/drawingml/2006/main" noGrp="1"/>
          </p:cNvSpPr>
          <p:nvPr/>
        </p:nvSpPr>
        <p:spPr>
          <a:xfrm xmlns:a="http://schemas.openxmlformats.org/drawingml/2006/main">
            <a:off x="8715375" y="2600325"/>
            <a:ext cx="15621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87.88</a:t>
            </a:r>
          </a:p>
        </p:txBody>
      </p:sp>
      <p:sp>
        <p:nvSpPr>
          <p:cNvPr id="14" name="table-1-3">
            <a:extLst xmlns:a="http://schemas.openxmlformats.org/drawingml/2006/main">
              <a:ext uri="{FF2B5EF4-FFF2-40B4-BE49-F238E27FC236}">
                <a16:creationId xmlns:a16="http://schemas.microsoft.com/office/drawing/2014/main" id="{B900A107-E29E-4A8F-8ABA-072A162FA359}"/>
              </a:ext>
            </a:extLst>
          </p:cNvPr>
          <p:cNvSpPr>
            <a:spLocks xmlns:a="http://schemas.openxmlformats.org/drawingml/2006/main" noGrp="1"/>
          </p:cNvSpPr>
          <p:nvPr/>
        </p:nvSpPr>
        <p:spPr>
          <a:xfrm xmlns:a="http://schemas.openxmlformats.org/drawingml/2006/main">
            <a:off x="10401300" y="2600325"/>
            <a:ext cx="13906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+0.98</a:t>
            </a:r>
          </a:p>
        </p:txBody>
      </p:sp>
      <p:sp>
        <p:nvSpPr>
          <p:cNvPr id="15" name="table-2-0">
            <a:extLst xmlns:a="http://schemas.openxmlformats.org/drawingml/2006/main">
              <a:ext uri="{FF2B5EF4-FFF2-40B4-BE49-F238E27FC236}">
                <a16:creationId xmlns:a16="http://schemas.microsoft.com/office/drawing/2014/main" id="{F1661961-479B-4B7E-93E0-2A6E5B1E5023}"/>
              </a:ext>
            </a:extLst>
          </p:cNvPr>
          <p:cNvSpPr>
            <a:spLocks xmlns:a="http://schemas.openxmlformats.org/drawingml/2006/main" noGrp="1"/>
          </p:cNvSpPr>
          <p:nvPr/>
        </p:nvSpPr>
        <p:spPr>
          <a:xfrm xmlns:a="http://schemas.openxmlformats.org/drawingml/2006/main">
            <a:off x="400050" y="32480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Full CRCT</a:t>
            </a:r>
          </a:p>
        </p:txBody>
      </p:sp>
      <p:sp>
        <p:nvSpPr>
          <p:cNvPr id="16" name="table-2-1">
            <a:extLst xmlns:a="http://schemas.openxmlformats.org/drawingml/2006/main">
              <a:ext uri="{FF2B5EF4-FFF2-40B4-BE49-F238E27FC236}">
                <a16:creationId xmlns:a16="http://schemas.microsoft.com/office/drawing/2014/main" id="{54F821A8-D845-4EF9-848C-9B5DA505E3BB}"/>
              </a:ext>
            </a:extLst>
          </p:cNvPr>
          <p:cNvSpPr>
            <a:spLocks xmlns:a="http://schemas.openxmlformats.org/drawingml/2006/main" noGrp="1"/>
          </p:cNvSpPr>
          <p:nvPr/>
        </p:nvSpPr>
        <p:spPr>
          <a:xfrm xmlns:a="http://schemas.openxmlformats.org/drawingml/2006/main">
            <a:off x="3286125" y="32480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Dùng toàn bộ replay</a:t>
            </a:r>
          </a:p>
        </p:txBody>
      </p:sp>
      <p:sp>
        <p:nvSpPr>
          <p:cNvPr id="17" name="table-2-2">
            <a:extLst xmlns:a="http://schemas.openxmlformats.org/drawingml/2006/main">
              <a:ext uri="{FF2B5EF4-FFF2-40B4-BE49-F238E27FC236}">
                <a16:creationId xmlns:a16="http://schemas.microsoft.com/office/drawing/2014/main" id="{688CC944-C9CE-477F-AD50-86DCE90378C4}"/>
              </a:ext>
            </a:extLst>
          </p:cNvPr>
          <p:cNvSpPr>
            <a:spLocks xmlns:a="http://schemas.openxmlformats.org/drawingml/2006/main" noGrp="1"/>
          </p:cNvSpPr>
          <p:nvPr/>
        </p:nvSpPr>
        <p:spPr>
          <a:xfrm xmlns:a="http://schemas.openxmlformats.org/drawingml/2006/main">
            <a:off x="8715375" y="32480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88.13</a:t>
            </a:r>
          </a:p>
        </p:txBody>
      </p:sp>
      <p:sp>
        <p:nvSpPr>
          <p:cNvPr id="18" name="table-2-3">
            <a:extLst xmlns:a="http://schemas.openxmlformats.org/drawingml/2006/main">
              <a:ext uri="{FF2B5EF4-FFF2-40B4-BE49-F238E27FC236}">
                <a16:creationId xmlns:a16="http://schemas.microsoft.com/office/drawing/2014/main" id="{A25B7CB6-5DAF-4963-A366-588BC6B3BF58}"/>
              </a:ext>
            </a:extLst>
          </p:cNvPr>
          <p:cNvSpPr>
            <a:spLocks xmlns:a="http://schemas.openxmlformats.org/drawingml/2006/main" noGrp="1"/>
          </p:cNvSpPr>
          <p:nvPr/>
        </p:nvSpPr>
        <p:spPr>
          <a:xfrm xmlns:a="http://schemas.openxmlformats.org/drawingml/2006/main">
            <a:off x="10401300" y="32480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+0.25</a:t>
            </a:r>
          </a:p>
        </p:txBody>
      </p:sp>
      <p:sp>
        <p:nvSpPr>
          <p:cNvPr id="19" name="table-3-0">
            <a:extLst xmlns:a="http://schemas.openxmlformats.org/drawingml/2006/main">
              <a:ext uri="{FF2B5EF4-FFF2-40B4-BE49-F238E27FC236}">
                <a16:creationId xmlns:a16="http://schemas.microsoft.com/office/drawing/2014/main" id="{35AC2E6A-0F53-4512-A5CE-80212CF87D17}"/>
              </a:ext>
            </a:extLst>
          </p:cNvPr>
          <p:cNvSpPr>
            <a:spLocks xmlns:a="http://schemas.openxmlformats.org/drawingml/2006/main" noGrp="1"/>
          </p:cNvSpPr>
          <p:nvPr/>
        </p:nvSpPr>
        <p:spPr>
          <a:xfrm xmlns:a="http://schemas.openxmlformats.org/drawingml/2006/main">
            <a:off x="400050" y="3895725"/>
            <a:ext cx="2762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Task-energy</a:t>
            </a:r>
          </a:p>
        </p:txBody>
      </p:sp>
      <p:sp>
        <p:nvSpPr>
          <p:cNvPr id="20" name="table-3-1">
            <a:extLst xmlns:a="http://schemas.openxmlformats.org/drawingml/2006/main">
              <a:ext uri="{FF2B5EF4-FFF2-40B4-BE49-F238E27FC236}">
                <a16:creationId xmlns:a16="http://schemas.microsoft.com/office/drawing/2014/main" id="{894DF522-5C94-4703-8451-62652375512C}"/>
              </a:ext>
            </a:extLst>
          </p:cNvPr>
          <p:cNvSpPr>
            <a:spLocks xmlns:a="http://schemas.openxmlformats.org/drawingml/2006/main" noGrp="1"/>
          </p:cNvSpPr>
          <p:nvPr/>
        </p:nvSpPr>
        <p:spPr>
          <a:xfrm xmlns:a="http://schemas.openxmlformats.org/drawingml/2006/main">
            <a:off x="3286125" y="3895725"/>
            <a:ext cx="5286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Chọn top-5 task liên quan</a:t>
            </a:r>
          </a:p>
        </p:txBody>
      </p:sp>
      <p:sp>
        <p:nvSpPr>
          <p:cNvPr id="21" name="table-3-2">
            <a:extLst xmlns:a="http://schemas.openxmlformats.org/drawingml/2006/main">
              <a:ext uri="{FF2B5EF4-FFF2-40B4-BE49-F238E27FC236}">
                <a16:creationId xmlns:a16="http://schemas.microsoft.com/office/drawing/2014/main" id="{E04FC281-5DA5-45D3-A453-13F893509BD8}"/>
              </a:ext>
            </a:extLst>
          </p:cNvPr>
          <p:cNvSpPr>
            <a:spLocks xmlns:a="http://schemas.openxmlformats.org/drawingml/2006/main" noGrp="1"/>
          </p:cNvSpPr>
          <p:nvPr/>
        </p:nvSpPr>
        <p:spPr>
          <a:xfrm xmlns:a="http://schemas.openxmlformats.org/drawingml/2006/main">
            <a:off x="8715375" y="3895725"/>
            <a:ext cx="15621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88.31</a:t>
            </a:r>
          </a:p>
        </p:txBody>
      </p:sp>
      <p:sp>
        <p:nvSpPr>
          <p:cNvPr id="22" name="table-3-3">
            <a:extLst xmlns:a="http://schemas.openxmlformats.org/drawingml/2006/main">
              <a:ext uri="{FF2B5EF4-FFF2-40B4-BE49-F238E27FC236}">
                <a16:creationId xmlns:a16="http://schemas.microsoft.com/office/drawing/2014/main" id="{909CC8CE-9C0F-4C53-9FA5-C6218E90CC27}"/>
              </a:ext>
            </a:extLst>
          </p:cNvPr>
          <p:cNvSpPr>
            <a:spLocks xmlns:a="http://schemas.openxmlformats.org/drawingml/2006/main" noGrp="1"/>
          </p:cNvSpPr>
          <p:nvPr/>
        </p:nvSpPr>
        <p:spPr>
          <a:xfrm xmlns:a="http://schemas.openxmlformats.org/drawingml/2006/main">
            <a:off x="10401300" y="3895725"/>
            <a:ext cx="13906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+0.18</a:t>
            </a:r>
          </a:p>
        </p:txBody>
      </p:sp>
      <p:sp>
        <p:nvSpPr>
          <p:cNvPr id="23" name="table-4-0">
            <a:extLst xmlns:a="http://schemas.openxmlformats.org/drawingml/2006/main">
              <a:ext uri="{FF2B5EF4-FFF2-40B4-BE49-F238E27FC236}">
                <a16:creationId xmlns:a16="http://schemas.microsoft.com/office/drawing/2014/main" id="{AA613387-7E63-4186-9177-45D19F05D1E8}"/>
              </a:ext>
            </a:extLst>
          </p:cNvPr>
          <p:cNvSpPr>
            <a:spLocks xmlns:a="http://schemas.openxmlformats.org/drawingml/2006/main" noGrp="1"/>
          </p:cNvSpPr>
          <p:nvPr/>
        </p:nvSpPr>
        <p:spPr>
          <a:xfrm xmlns:a="http://schemas.openxmlformats.org/drawingml/2006/main">
            <a:off x="400050" y="45434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Energy weight</a:t>
            </a:r>
          </a:p>
        </p:txBody>
      </p:sp>
      <p:sp>
        <p:nvSpPr>
          <p:cNvPr id="24" name="table-4-1">
            <a:extLst xmlns:a="http://schemas.openxmlformats.org/drawingml/2006/main">
              <a:ext uri="{FF2B5EF4-FFF2-40B4-BE49-F238E27FC236}">
                <a16:creationId xmlns:a16="http://schemas.microsoft.com/office/drawing/2014/main" id="{0BFBAF85-5B25-407A-AECB-14101F303CFA}"/>
              </a:ext>
            </a:extLst>
          </p:cNvPr>
          <p:cNvSpPr>
            <a:spLocks xmlns:a="http://schemas.openxmlformats.org/drawingml/2006/main" noGrp="1"/>
          </p:cNvSpPr>
          <p:nvPr/>
        </p:nvSpPr>
        <p:spPr>
          <a:xfrm xmlns:a="http://schemas.openxmlformats.org/drawingml/2006/main">
            <a:off x="3286125" y="45434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Dồn lực vào source phù hợp</a:t>
            </a:r>
          </a:p>
        </p:txBody>
      </p:sp>
      <p:sp>
        <p:nvSpPr>
          <p:cNvPr id="25" name="table-4-2">
            <a:extLst xmlns:a="http://schemas.openxmlformats.org/drawingml/2006/main">
              <a:ext uri="{FF2B5EF4-FFF2-40B4-BE49-F238E27FC236}">
                <a16:creationId xmlns:a16="http://schemas.microsoft.com/office/drawing/2014/main" id="{9DCCA62A-7B48-4A69-9BB6-EF2BC1C981B5}"/>
              </a:ext>
            </a:extLst>
          </p:cNvPr>
          <p:cNvSpPr>
            <a:spLocks xmlns:a="http://schemas.openxmlformats.org/drawingml/2006/main" noGrp="1"/>
          </p:cNvSpPr>
          <p:nvPr/>
        </p:nvSpPr>
        <p:spPr>
          <a:xfrm xmlns:a="http://schemas.openxmlformats.org/drawingml/2006/main">
            <a:off x="8715375" y="45434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88.56</a:t>
            </a:r>
          </a:p>
        </p:txBody>
      </p:sp>
      <p:sp>
        <p:nvSpPr>
          <p:cNvPr id="26" name="table-4-3">
            <a:extLst xmlns:a="http://schemas.openxmlformats.org/drawingml/2006/main">
              <a:ext uri="{FF2B5EF4-FFF2-40B4-BE49-F238E27FC236}">
                <a16:creationId xmlns:a16="http://schemas.microsoft.com/office/drawing/2014/main" id="{23256A72-1F8C-4F28-BC3D-97D70CF0DB55}"/>
              </a:ext>
            </a:extLst>
          </p:cNvPr>
          <p:cNvSpPr>
            <a:spLocks xmlns:a="http://schemas.openxmlformats.org/drawingml/2006/main" noGrp="1"/>
          </p:cNvSpPr>
          <p:nvPr/>
        </p:nvSpPr>
        <p:spPr>
          <a:xfrm xmlns:a="http://schemas.openxmlformats.org/drawingml/2006/main">
            <a:off x="10401300" y="45434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+0.25</a:t>
            </a:r>
          </a:p>
        </p:txBody>
      </p:sp>
      <p:sp>
        <p:nvSpPr>
          <p:cNvPr id="27" name="table-5-0">
            <a:extLst xmlns:a="http://schemas.openxmlformats.org/drawingml/2006/main">
              <a:ext uri="{FF2B5EF4-FFF2-40B4-BE49-F238E27FC236}">
                <a16:creationId xmlns:a16="http://schemas.microsoft.com/office/drawing/2014/main" id="{5C0A0B3E-927C-4A47-8D41-CCD3E2AB3C72}"/>
              </a:ext>
            </a:extLst>
          </p:cNvPr>
          <p:cNvSpPr>
            <a:spLocks xmlns:a="http://schemas.openxmlformats.org/drawingml/2006/main" noGrp="1"/>
          </p:cNvSpPr>
          <p:nvPr/>
        </p:nvSpPr>
        <p:spPr>
          <a:xfrm xmlns:a="http://schemas.openxmlformats.org/drawingml/2006/main">
            <a:off x="400050" y="5191125"/>
            <a:ext cx="276225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Tuning CRCT</a:t>
            </a:r>
          </a:p>
        </p:txBody>
      </p:sp>
      <p:sp>
        <p:nvSpPr>
          <p:cNvPr id="28" name="table-5-1">
            <a:extLst xmlns:a="http://schemas.openxmlformats.org/drawingml/2006/main">
              <a:ext uri="{FF2B5EF4-FFF2-40B4-BE49-F238E27FC236}">
                <a16:creationId xmlns:a16="http://schemas.microsoft.com/office/drawing/2014/main" id="{D7A64714-C837-4E87-94D4-3EA782185FDD}"/>
              </a:ext>
            </a:extLst>
          </p:cNvPr>
          <p:cNvSpPr>
            <a:spLocks xmlns:a="http://schemas.openxmlformats.org/drawingml/2006/main" noGrp="1"/>
          </p:cNvSpPr>
          <p:nvPr/>
        </p:nvSpPr>
        <p:spPr>
          <a:xfrm xmlns:a="http://schemas.openxmlformats.org/drawingml/2006/main">
            <a:off x="3286125" y="5191125"/>
            <a:ext cx="5286375"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ca_lr = 0.0045</a:t>
            </a:r>
          </a:p>
        </p:txBody>
      </p:sp>
      <p:sp>
        <p:nvSpPr>
          <p:cNvPr id="29" name="table-5-2">
            <a:extLst xmlns:a="http://schemas.openxmlformats.org/drawingml/2006/main">
              <a:ext uri="{FF2B5EF4-FFF2-40B4-BE49-F238E27FC236}">
                <a16:creationId xmlns:a16="http://schemas.microsoft.com/office/drawing/2014/main" id="{C2B920B7-7E04-47B9-9114-3C2CB22561DF}"/>
              </a:ext>
            </a:extLst>
          </p:cNvPr>
          <p:cNvSpPr>
            <a:spLocks xmlns:a="http://schemas.openxmlformats.org/drawingml/2006/main" noGrp="1"/>
          </p:cNvSpPr>
          <p:nvPr/>
        </p:nvSpPr>
        <p:spPr>
          <a:xfrm xmlns:a="http://schemas.openxmlformats.org/drawingml/2006/main">
            <a:off x="8715375" y="5191125"/>
            <a:ext cx="156210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88.60</a:t>
            </a:r>
          </a:p>
        </p:txBody>
      </p:sp>
      <p:sp>
        <p:nvSpPr>
          <p:cNvPr id="30" name="table-5-3">
            <a:extLst xmlns:a="http://schemas.openxmlformats.org/drawingml/2006/main">
              <a:ext uri="{FF2B5EF4-FFF2-40B4-BE49-F238E27FC236}">
                <a16:creationId xmlns:a16="http://schemas.microsoft.com/office/drawing/2014/main" id="{AD3C1103-6984-4196-8BEB-A5A56431EBAB}"/>
              </a:ext>
            </a:extLst>
          </p:cNvPr>
          <p:cNvSpPr>
            <a:spLocks xmlns:a="http://schemas.openxmlformats.org/drawingml/2006/main" noGrp="1"/>
          </p:cNvSpPr>
          <p:nvPr/>
        </p:nvSpPr>
        <p:spPr>
          <a:xfrm xmlns:a="http://schemas.openxmlformats.org/drawingml/2006/main">
            <a:off x="10401300" y="5191125"/>
            <a:ext cx="139065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500" b="1">
                <a:solidFill>
                  <a:srgbClr val="000000"/>
                </a:solidFill>
                <a:latin typeface="Arial"/>
                <a:ea typeface="Arial"/>
                <a:cs typeface="Arial"/>
              </a:defRPr>
            </a:pPr>
            <a:r>
              <a:rPr sz="1500" b="1">
                <a:solidFill>
                  <a:srgbClr val="000000"/>
                </a:solidFill>
                <a:latin typeface="Arial"/>
                <a:ea typeface="Arial"/>
                <a:cs typeface="Arial"/>
              </a:rPr>
              <a:t>+0.04</a:t>
            </a:r>
          </a:p>
        </p:txBody>
      </p:sp>
    </p:spTree>
    <p:extLst>
      <p:ext uri="{BB962C8B-B14F-4D97-AF65-F5344CB8AC3E}">
        <p14:creationId xmlns:p14="http://schemas.microsoft.com/office/powerpoint/2010/main" val="213359688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7FC28682-EC73-477B-AD30-ED5BD7B7E73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89EEFD2C-4244-4772-BD0D-009ACF307E60}"/>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AFC7C1FD-F345-4B57-AC93-25C3F0D8164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E557D669-9BDD-4858-BA8C-C758B4B0753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5" name="Title-2-5">
            <a:extLst xmlns:a="http://schemas.openxmlformats.org/drawingml/2006/main">
              <a:ext uri="{FF2B5EF4-FFF2-40B4-BE49-F238E27FC236}">
                <a16:creationId xmlns:a16="http://schemas.microsoft.com/office/drawing/2014/main" id="{4671C84E-1F52-4E68-81C9-EA7A09F6881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Kết luận: cải tiến đúng replay và distillation tạo mốc 88.60</a:t>
            </a:r>
          </a:p>
        </p:txBody>
      </p:sp>
      <p:sp>
        <p:nvSpPr>
          <p:cNvPr id="6" name="Content-Placeholder-9-6">
            <a:extLst xmlns:a="http://schemas.openxmlformats.org/drawingml/2006/main">
              <a:ext uri="{FF2B5EF4-FFF2-40B4-BE49-F238E27FC236}">
                <a16:creationId xmlns:a16="http://schemas.microsoft.com/office/drawing/2014/main" id="{22620935-0720-4DD3-9DEC-BCF7D6E1F713}"/>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Acc@1 tốt nhất</a:t>
            </a:r>
          </a:p>
        </p:txBody>
      </p:sp>
      <p:sp>
        <p:nvSpPr>
          <p:cNvPr id="7" name="Content-Placeholder-10-7">
            <a:extLst xmlns:a="http://schemas.openxmlformats.org/drawingml/2006/main">
              <a:ext uri="{FF2B5EF4-FFF2-40B4-BE49-F238E27FC236}">
                <a16:creationId xmlns:a16="http://schemas.microsoft.com/office/drawing/2014/main" id="{6F694C21-3D66-48D2-BA3F-18E42399444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cần xác nhận thêm</a:t>
            </a:r>
          </a:p>
        </p:txBody>
      </p:sp>
      <p:sp>
        <p:nvSpPr>
          <p:cNvPr id="8" name="Content-Placeholder-11-8">
            <a:extLst xmlns:a="http://schemas.openxmlformats.org/drawingml/2006/main">
              <a:ext uri="{FF2B5EF4-FFF2-40B4-BE49-F238E27FC236}">
                <a16:creationId xmlns:a16="http://schemas.microsoft.com/office/drawing/2014/main" id="{99E879C9-3B34-409A-A24F-E9BEC3517F4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so với HRM-PET gốc</a:t>
            </a:r>
          </a:p>
        </p:txBody>
      </p:sp>
      <p:sp>
        <p:nvSpPr>
          <p:cNvPr id="9" name="Content-Placeholder-9-9">
            <a:extLst xmlns:a="http://schemas.openxmlformats.org/drawingml/2006/main">
              <a:ext uri="{FF2B5EF4-FFF2-40B4-BE49-F238E27FC236}">
                <a16:creationId xmlns:a16="http://schemas.microsoft.com/office/drawing/2014/main" id="{A0A0E8CA-830D-4593-B535-2F75CE6713C8}"/>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88.60</a:t>
            </a:r>
          </a:p>
        </p:txBody>
      </p:sp>
      <p:sp>
        <p:nvSpPr>
          <p:cNvPr id="10" name="Content-Placeholder-9-10">
            <a:extLst xmlns:a="http://schemas.openxmlformats.org/drawingml/2006/main">
              <a:ext uri="{FF2B5EF4-FFF2-40B4-BE49-F238E27FC236}">
                <a16:creationId xmlns:a16="http://schemas.microsoft.com/office/drawing/2014/main" id="{E4722F85-9149-4B35-9191-90FCAEFE7AF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+1.70</a:t>
            </a:r>
          </a:p>
        </p:txBody>
      </p:sp>
      <p:sp>
        <p:nvSpPr>
          <p:cNvPr id="11" name="Content-Placeholder-9-11">
            <a:extLst xmlns:a="http://schemas.openxmlformats.org/drawingml/2006/main">
              <a:ext uri="{FF2B5EF4-FFF2-40B4-BE49-F238E27FC236}">
                <a16:creationId xmlns:a16="http://schemas.microsoft.com/office/drawing/2014/main" id="{F953A383-DEA3-458B-AD1F-4C7D4DA4923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 seed</a:t>
            </a:r>
          </a:p>
        </p:txBody>
      </p:sp>
      <p:sp>
        <p:nvSpPr>
          <p:cNvPr id="12" name="Content-Placeholder-15-12">
            <a:extLst xmlns:a="http://schemas.openxmlformats.org/drawingml/2006/main">
              <a:ext uri="{FF2B5EF4-FFF2-40B4-BE49-F238E27FC236}">
                <a16:creationId xmlns:a16="http://schemas.microsoft.com/office/drawing/2014/main" id="{B7CC7D5C-D462-4DC8-A9E7-7B5B635BFD09}"/>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Ba thay đổi nên giữ
</a:t>
            </a:r>
          </a:p>
          <a:p xmlns:a="http://schemas.openxmlformats.org/drawingml/2006/main">
            <a:pPr algn="l">
              <a:defRPr sz="1600">
                <a:solidFill>
                  <a:srgbClr val="000000"/>
                </a:solidFill>
                <a:latin typeface="Helvetica Neue"/>
                <a:ea typeface="Helvetica Neue"/>
                <a:cs typeface="Helvetica Neue"/>
              </a:defRPr>
            </a:pPr>
            <a:r>
              <a:t>CFS chọn replay đa dạng · CRCT dùng đủ replay · CTIRD chọn và weight task theo energy. Semantic được giữ như ablation, không bật trong bản cuối.</a:t>
            </a:r>
          </a:p>
        </p:txBody>
      </p:sp>
    </p:spTree>
    <p:extLst>
      <p:ext uri="{BB962C8B-B14F-4D97-AF65-F5344CB8AC3E}">
        <p14:creationId xmlns:p14="http://schemas.microsoft.com/office/powerpoint/2010/main" val="475628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2026-08-06T14:36:33.4470000Z</dcterms:created>
  <dcterms:modified xsi:type="dcterms:W3CDTF">2026-08-06T14:36:33.4470000Z</dcterms:modified>
</coreProperties>
</file>